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2" r:id="rId4"/>
    <p:sldId id="268" r:id="rId5"/>
    <p:sldId id="284" r:id="rId6"/>
    <p:sldId id="269" r:id="rId7"/>
    <p:sldId id="270" r:id="rId8"/>
    <p:sldId id="271" r:id="rId9"/>
    <p:sldId id="283" r:id="rId10"/>
    <p:sldId id="265" r:id="rId11"/>
    <p:sldId id="273" r:id="rId12"/>
    <p:sldId id="281" r:id="rId13"/>
    <p:sldId id="274" r:id="rId14"/>
    <p:sldId id="266" r:id="rId15"/>
    <p:sldId id="278" r:id="rId16"/>
    <p:sldId id="276" r:id="rId17"/>
    <p:sldId id="277" r:id="rId18"/>
    <p:sldId id="285" r:id="rId19"/>
    <p:sldId id="267" r:id="rId20"/>
    <p:sldId id="279" r:id="rId21"/>
    <p:sldId id="280" r:id="rId22"/>
    <p:sldId id="282" r:id="rId23"/>
    <p:sldId id="28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sE9G6uR8KrU/AF2fTgae8awS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2668"/>
    <a:srgbClr val="F3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67" d="100"/>
          <a:sy n="67" d="100"/>
        </p:scale>
        <p:origin x="6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338D27"/>
            </a:solidFill>
          </c:spPr>
          <c:dPt>
            <c:idx val="0"/>
            <c:bubble3D val="0"/>
            <c:spPr>
              <a:solidFill>
                <a:srgbClr val="338D2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BC-4A2F-9226-2CB6A706DE57}"/>
              </c:ext>
            </c:extLst>
          </c:dPt>
          <c:dPt>
            <c:idx val="1"/>
            <c:bubble3D val="0"/>
            <c:spPr>
              <a:solidFill>
                <a:srgbClr val="A2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BC-4A2F-9226-2CB6A706DE5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4F21C32-250F-4B65-B565-DA65FE55726F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en-US" altLang="zh-CN" b="1" dirty="0">
                        <a:solidFill>
                          <a:schemeClr val="bg1"/>
                        </a:solidFill>
                      </a:rPr>
                      <a:t>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5BC-4A2F-9226-2CB6A706DE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Linear</c:v>
                </c:pt>
                <c:pt idx="1">
                  <c:v>MMul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BC-4A2F-9226-2CB6A706D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F1C1243-6449-41C4-B90E-95F52D80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31CB0683-B7DF-0744-8A73-ABDA9CB26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CN"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46ABF38-3215-5075-DF2F-8DF82ACB6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191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09C337F-CBF0-71F9-CB24-2CE055BA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4CE90CB4-EC73-6D98-A69E-E31BD48B2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Diffusion Transformer</a:t>
            </a: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D0268D8-3125-069F-49A4-001E41748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504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BAB876B-5D47-81B2-5600-D9FA5622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3102947F-4EC1-A8AD-0BFB-AAC7D7582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Existing acceleration for diffusion models mainly focus on image and video generation. </a:t>
            </a:r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B61842E-7F1E-96D5-BE66-B9478EAFC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751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3D0DABD-FC15-E67C-15AA-00A60267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50FFDE60-E0AE-0A47-D6D1-B30610E47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6D2E000-FBA7-DAB8-D39B-320CE2F2F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78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DE792C3-3992-7126-AB42-8335FA63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39F43D1-55D6-277C-7F2C-EDFFE8478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7820609-2F78-C2CE-A44B-E1E05A577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4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CDC8652-244E-8224-465E-D6CB8632D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989E4A2-CF4B-C5FF-E45A-6F7D984AE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35D2971-7F2F-49DB-A624-F52674C18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80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CDC031BB-5707-94AF-A943-2C86330E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D039B198-F2E0-2393-55CC-61232EFA5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1AFD7A4-ECDF-BA40-20C8-01D37D37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20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61801A-4364-135A-D78F-9AFE45F7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FA947BD-86A1-9C01-4BF9-59C18FC6C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4F78A36-9DE0-D066-7CEB-0C1D1C079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83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08421978-1EDC-66E9-7459-05C204EC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82E0630B-0920-4612-A8A6-323732571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CN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positions with larger difference in second step tend to continue increasing the difference in next steps.</a:t>
            </a:r>
            <a:r>
              <a:rPr lang="en-US" altLang="zh-CN" dirty="0"/>
              <a:t> </a:t>
            </a:r>
            <a:br>
              <a:rPr lang="en-US" altLang="zh-CN" dirty="0"/>
            </a:b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0CBF09B-9005-71FB-3027-2E84871D2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177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C8B0755-8514-8022-AE7A-261D2678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A65D7875-9AED-B995-6EE9-00A75D106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3AFE3A6-8EAD-F291-6419-FF81D345C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53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06151A-2671-5C46-724D-9E1B69EC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52E9B827-F379-9E70-30DD-FC585EDE2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first-level flexible groups align with the sparse feature of algorithm, while second level tiles with fixed pattern facilitate high hardware efficiency </a:t>
            </a: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1090B50-8FA8-77A1-F548-4ED729BF7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615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B302D51-6845-705C-1406-DECDC6F5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8497BF0-D0FC-C868-A996-E709748A0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645E157-606C-4550-8863-0D43AA5D3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035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7B92C9A-1DA5-3025-4400-86AFAFEC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84AB9E24-B04C-70C2-F911-B14F76D5C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0D637B2C-61FA-084A-D259-F236FE8F5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36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9D0FE95-1788-B57E-7961-3F12AED7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2C2C5E5B-03B7-6C94-F734-BBEA5EC86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9240232-DCDB-465C-74A7-9C7798E50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41AAF50F-B893-39F3-0D2D-513C145C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562BC30-6418-153F-FF49-3F0A9E8D0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F751693-4F89-F4B1-3134-C00B19FC8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0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5F9365C-EAD8-6911-3FBA-B97D4401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858AB85-6CE1-BA6A-35EC-FA64C299F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375CCBE-2CF4-060D-753B-350FDE879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38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9B30372-943D-0B04-A101-DAD87287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02176E3-0708-FE00-9D4F-C3E6D0541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E5F7597-2A59-6D45-F9E4-54E2359E1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080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9CD0D37-3F36-B545-27D2-45BD18F4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A75418EB-0271-561B-413B-79221DB4F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DBF414D-2B0D-6958-9D14-14E9E0A6B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233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6AB9A6B-1543-6E00-7FB2-2748204A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881AC8C0-1A55-7076-5D7F-13169D1F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F9295A0-B62B-9732-F3CB-FF760FE4B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2363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4666CB27-11D3-66F5-EADB-64CA1813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668DE370-943D-6B0A-CD07-3E50BE6EC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E584686-F4B2-1829-D7AB-B656C37EB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06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11D9696-CE43-AF0B-52F8-314F68A7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D7C89C62-D4B3-C82D-4D81-4DAD1E9FA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>
            <a:extLst>
              <a:ext uri="{FF2B5EF4-FFF2-40B4-BE49-F238E27FC236}">
                <a16:creationId xmlns:a16="http://schemas.microsoft.com/office/drawing/2014/main" id="{80F49CAB-1F70-3323-EBC8-858199746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89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blue background with white text&#10;&#10;AI-generated content may be incorrect.">
            <a:extLst>
              <a:ext uri="{FF2B5EF4-FFF2-40B4-BE49-F238E27FC236}">
                <a16:creationId xmlns:a16="http://schemas.microsoft.com/office/drawing/2014/main" id="{635854C4-1B79-143B-867C-798EE630C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1524000" y="175347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524000" y="423314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 with white text&#10;&#10;AI-generated content may be incorrect.">
            <a:extLst>
              <a:ext uri="{FF2B5EF4-FFF2-40B4-BE49-F238E27FC236}">
                <a16:creationId xmlns:a16="http://schemas.microsoft.com/office/drawing/2014/main" id="{661E4BD8-1B4F-1C88-5AC5-FDE6B1E8C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431158" y="3004442"/>
            <a:ext cx="5866901" cy="23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1828801" y="136525"/>
            <a:ext cx="100000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1924050" y="208755"/>
            <a:ext cx="98727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98266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Speaker" userDrawn="1">
  <p:cSld name="SingleSpeak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hexagon on a purple and green background&#10;&#10;AI-generated content may be incorrect.">
            <a:extLst>
              <a:ext uri="{FF2B5EF4-FFF2-40B4-BE49-F238E27FC236}">
                <a16:creationId xmlns:a16="http://schemas.microsoft.com/office/drawing/2014/main" id="{A22A99B9-81C4-5E86-082B-1E0123024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6888971" y="1741470"/>
            <a:ext cx="437680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1"/>
          </p:nvPr>
        </p:nvSpPr>
        <p:spPr>
          <a:xfrm>
            <a:off x="6888971" y="3341670"/>
            <a:ext cx="4376803" cy="76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3"/>
          </p:nvPr>
        </p:nvSpPr>
        <p:spPr>
          <a:xfrm>
            <a:off x="6888971" y="4176450"/>
            <a:ext cx="437680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bg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1838325" y="136525"/>
            <a:ext cx="9990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hexagons&#10;&#10;AI-generated content may be incorrect.">
            <a:extLst>
              <a:ext uri="{FF2B5EF4-FFF2-40B4-BE49-F238E27FC236}">
                <a16:creationId xmlns:a16="http://schemas.microsoft.com/office/drawing/2014/main" id="{5BB223B4-E416-EDCB-C3F5-17942C88963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1857374" y="1825625"/>
            <a:ext cx="94964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1857374" y="365125"/>
            <a:ext cx="94964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982668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27529" y="1742384"/>
            <a:ext cx="1100865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 err="1"/>
              <a:t>SpRDA</a:t>
            </a:r>
            <a:r>
              <a:rPr lang="en-US" dirty="0"/>
              <a:t>: An Efficient Sparse Accelerator for Robotics Diffusion Model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061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Renda Jian, Yuzhou Chen, Pan Zhao, Yitian Chen, </a:t>
            </a:r>
            <a:r>
              <a:rPr lang="en-US" dirty="0" err="1"/>
              <a:t>Zhican</a:t>
            </a:r>
            <a:r>
              <a:rPr lang="en-US" dirty="0"/>
              <a:t> Wang, </a:t>
            </a:r>
            <a:r>
              <a:rPr lang="en-US" dirty="0" err="1"/>
              <a:t>Xueling</a:t>
            </a:r>
            <a:r>
              <a:rPr lang="en-US" dirty="0"/>
              <a:t> Wang, Chen Zhang, Guanghui He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Shanghai Jiao Tong University, Shanghai, China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9315008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I</a:t>
            </a:r>
            <a:r>
              <a:rPr lang="en-US" altLang="zh-CN" dirty="0"/>
              <a:t>ntroduction and Challenges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1AFE831B-6007-28C5-3654-789E5DAE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17A33DD-F586-EB87-6CE7-E65F3237A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Embodied Artificial Intelligence:</a:t>
            </a:r>
            <a:br>
              <a:rPr lang="en-US" dirty="0">
                <a:solidFill>
                  <a:srgbClr val="982668"/>
                </a:solidFill>
              </a:rPr>
            </a:br>
            <a:r>
              <a:rPr lang="en-US" dirty="0">
                <a:solidFill>
                  <a:srgbClr val="982668"/>
                </a:solidFill>
              </a:rPr>
              <a:t>Bridging AI with the Physical World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C919652-9195-CB22-7A83-270982689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6631" y="4533893"/>
            <a:ext cx="9031825" cy="226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</a:pPr>
            <a:r>
              <a:rPr lang="en-US" altLang="zh-CN" sz="2200" b="1" dirty="0"/>
              <a:t>Generate actions to control robots to interact with environment</a:t>
            </a:r>
            <a:endParaRPr lang="en-US" sz="2200" b="1" dirty="0"/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/>
              <a:t>Autonomously tackl</a:t>
            </a:r>
            <a:r>
              <a:rPr lang="en-US" altLang="zh-CN" sz="2200" b="1" dirty="0"/>
              <a:t>e</a:t>
            </a:r>
            <a:r>
              <a:rPr lang="en-US" sz="2200" b="1" dirty="0"/>
              <a:t> an ever-widening range of complex tasks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>
                <a:solidFill>
                  <a:srgbClr val="C00000"/>
                </a:solidFill>
              </a:rPr>
              <a:t>H</a:t>
            </a:r>
            <a:r>
              <a:rPr lang="en-US" altLang="zh-CN" sz="2200" b="1" dirty="0">
                <a:solidFill>
                  <a:srgbClr val="C00000"/>
                </a:solidFill>
              </a:rPr>
              <a:t>ard to achieve r</a:t>
            </a:r>
            <a:r>
              <a:rPr lang="en-US" sz="2200" b="1" dirty="0">
                <a:solidFill>
                  <a:srgbClr val="C00000"/>
                </a:solidFill>
              </a:rPr>
              <a:t>eal-time control in resource-constrained robot platform</a:t>
            </a:r>
            <a:endParaRPr sz="2200" b="1" dirty="0">
              <a:solidFill>
                <a:srgbClr val="C00000"/>
              </a:solidFill>
            </a:endParaRPr>
          </a:p>
        </p:txBody>
      </p:sp>
      <p:grpSp>
        <p:nvGrpSpPr>
          <p:cNvPr id="2" name="组合 77">
            <a:extLst>
              <a:ext uri="{FF2B5EF4-FFF2-40B4-BE49-F238E27FC236}">
                <a16:creationId xmlns:a16="http://schemas.microsoft.com/office/drawing/2014/main" id="{0DD2E738-1098-8758-7EDD-E3A7B955BB1E}"/>
              </a:ext>
            </a:extLst>
          </p:cNvPr>
          <p:cNvGrpSpPr/>
          <p:nvPr/>
        </p:nvGrpSpPr>
        <p:grpSpPr>
          <a:xfrm>
            <a:off x="481098" y="1908984"/>
            <a:ext cx="2038955" cy="1794132"/>
            <a:chOff x="4615" y="4679"/>
            <a:chExt cx="950" cy="886"/>
          </a:xfrm>
        </p:grpSpPr>
        <p:cxnSp>
          <p:nvCxnSpPr>
            <p:cNvPr id="3" name="直接连接符 10">
              <a:extLst>
                <a:ext uri="{FF2B5EF4-FFF2-40B4-BE49-F238E27FC236}">
                  <a16:creationId xmlns:a16="http://schemas.microsoft.com/office/drawing/2014/main" id="{01690CA2-7853-C65B-4E6B-4CE13AA16927}"/>
                </a:ext>
              </a:extLst>
            </p:cNvPr>
            <p:cNvCxnSpPr>
              <a:stCxn id="9" idx="0"/>
            </p:cNvCxnSpPr>
            <p:nvPr/>
          </p:nvCxnSpPr>
          <p:spPr>
            <a:xfrm flipH="1">
              <a:off x="5088" y="4679"/>
              <a:ext cx="2" cy="423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11">
              <a:extLst>
                <a:ext uri="{FF2B5EF4-FFF2-40B4-BE49-F238E27FC236}">
                  <a16:creationId xmlns:a16="http://schemas.microsoft.com/office/drawing/2014/main" id="{A6760FF9-68FE-6AD7-135F-CDDDC00C461B}"/>
                </a:ext>
              </a:extLst>
            </p:cNvPr>
            <p:cNvCxnSpPr/>
            <p:nvPr/>
          </p:nvCxnSpPr>
          <p:spPr>
            <a:xfrm flipH="1">
              <a:off x="4909" y="5103"/>
              <a:ext cx="183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18">
              <a:extLst>
                <a:ext uri="{FF2B5EF4-FFF2-40B4-BE49-F238E27FC236}">
                  <a16:creationId xmlns:a16="http://schemas.microsoft.com/office/drawing/2014/main" id="{97F9072E-3267-CC5C-5D03-991CC5CB477A}"/>
                </a:ext>
              </a:extLst>
            </p:cNvPr>
            <p:cNvCxnSpPr/>
            <p:nvPr/>
          </p:nvCxnSpPr>
          <p:spPr>
            <a:xfrm flipH="1">
              <a:off x="4615" y="5103"/>
              <a:ext cx="183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19">
              <a:extLst>
                <a:ext uri="{FF2B5EF4-FFF2-40B4-BE49-F238E27FC236}">
                  <a16:creationId xmlns:a16="http://schemas.microsoft.com/office/drawing/2014/main" id="{6DCA10AC-0613-1600-8ED6-ADCE83022AFF}"/>
                </a:ext>
              </a:extLst>
            </p:cNvPr>
            <p:cNvCxnSpPr/>
            <p:nvPr/>
          </p:nvCxnSpPr>
          <p:spPr>
            <a:xfrm>
              <a:off x="5092" y="5103"/>
              <a:ext cx="3" cy="30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26">
              <a:extLst>
                <a:ext uri="{FF2B5EF4-FFF2-40B4-BE49-F238E27FC236}">
                  <a16:creationId xmlns:a16="http://schemas.microsoft.com/office/drawing/2014/main" id="{EA78F66B-9EA6-1AB8-FECB-0D543BE9C687}"/>
                </a:ext>
              </a:extLst>
            </p:cNvPr>
            <p:cNvCxnSpPr/>
            <p:nvPr/>
          </p:nvCxnSpPr>
          <p:spPr>
            <a:xfrm>
              <a:off x="5284" y="4954"/>
              <a:ext cx="280" cy="3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29">
              <a:extLst>
                <a:ext uri="{FF2B5EF4-FFF2-40B4-BE49-F238E27FC236}">
                  <a16:creationId xmlns:a16="http://schemas.microsoft.com/office/drawing/2014/main" id="{E300A42F-DD60-2BF9-1732-F58F7F5DFB86}"/>
                </a:ext>
              </a:extLst>
            </p:cNvPr>
            <p:cNvCxnSpPr/>
            <p:nvPr/>
          </p:nvCxnSpPr>
          <p:spPr>
            <a:xfrm>
              <a:off x="5284" y="5251"/>
              <a:ext cx="280" cy="3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9">
              <a:extLst>
                <a:ext uri="{FF2B5EF4-FFF2-40B4-BE49-F238E27FC236}">
                  <a16:creationId xmlns:a16="http://schemas.microsoft.com/office/drawing/2014/main" id="{FC7DA265-A970-C35D-8000-857DCE36D9B6}"/>
                </a:ext>
              </a:extLst>
            </p:cNvPr>
            <p:cNvSpPr/>
            <p:nvPr/>
          </p:nvSpPr>
          <p:spPr>
            <a:xfrm>
              <a:off x="4615" y="4679"/>
              <a:ext cx="950" cy="886"/>
            </a:xfrm>
            <a:prstGeom prst="rect">
              <a:avLst/>
            </a:prstGeom>
            <a:noFill/>
            <a:ln w="25400">
              <a:solidFill>
                <a:srgbClr val="22658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任意多边形 56">
              <a:extLst>
                <a:ext uri="{FF2B5EF4-FFF2-40B4-BE49-F238E27FC236}">
                  <a16:creationId xmlns:a16="http://schemas.microsoft.com/office/drawing/2014/main" id="{009F427D-E108-0DE2-678C-1B8DB0C0B26A}"/>
                </a:ext>
              </a:extLst>
            </p:cNvPr>
            <p:cNvSpPr/>
            <p:nvPr/>
          </p:nvSpPr>
          <p:spPr>
            <a:xfrm>
              <a:off x="4808" y="4946"/>
              <a:ext cx="528" cy="514"/>
            </a:xfrm>
            <a:custGeom>
              <a:avLst/>
              <a:gdLst>
                <a:gd name="connisteX0" fmla="*/ 0 w 335280"/>
                <a:gd name="connsiteY0" fmla="*/ 0 h 394196"/>
                <a:gd name="connisteX1" fmla="*/ 24130 w 335280"/>
                <a:gd name="connsiteY1" fmla="*/ 127000 h 394196"/>
                <a:gd name="connisteX2" fmla="*/ 42545 w 335280"/>
                <a:gd name="connsiteY2" fmla="*/ 303530 h 394196"/>
                <a:gd name="connisteX3" fmla="*/ 68580 w 335280"/>
                <a:gd name="connsiteY3" fmla="*/ 370840 h 394196"/>
                <a:gd name="connisteX4" fmla="*/ 178435 w 335280"/>
                <a:gd name="connsiteY4" fmla="*/ 393065 h 394196"/>
                <a:gd name="connisteX5" fmla="*/ 251460 w 335280"/>
                <a:gd name="connsiteY5" fmla="*/ 385445 h 394196"/>
                <a:gd name="connisteX6" fmla="*/ 264160 w 335280"/>
                <a:gd name="connsiteY6" fmla="*/ 359410 h 394196"/>
                <a:gd name="connisteX7" fmla="*/ 262255 w 335280"/>
                <a:gd name="connsiteY7" fmla="*/ 177165 h 394196"/>
                <a:gd name="connisteX8" fmla="*/ 335280 w 335280"/>
                <a:gd name="connsiteY8" fmla="*/ 165735 h 3941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35280" h="394197">
                  <a:moveTo>
                    <a:pt x="0" y="0"/>
                  </a:moveTo>
                  <a:cubicBezTo>
                    <a:pt x="4445" y="21590"/>
                    <a:pt x="15875" y="66040"/>
                    <a:pt x="24130" y="127000"/>
                  </a:cubicBezTo>
                  <a:cubicBezTo>
                    <a:pt x="32385" y="187960"/>
                    <a:pt x="33655" y="254635"/>
                    <a:pt x="42545" y="303530"/>
                  </a:cubicBezTo>
                  <a:cubicBezTo>
                    <a:pt x="51435" y="352425"/>
                    <a:pt x="41275" y="353060"/>
                    <a:pt x="68580" y="370840"/>
                  </a:cubicBezTo>
                  <a:cubicBezTo>
                    <a:pt x="95885" y="388620"/>
                    <a:pt x="141605" y="389890"/>
                    <a:pt x="178435" y="393065"/>
                  </a:cubicBezTo>
                  <a:cubicBezTo>
                    <a:pt x="215265" y="396240"/>
                    <a:pt x="234315" y="392430"/>
                    <a:pt x="251460" y="385445"/>
                  </a:cubicBezTo>
                  <a:cubicBezTo>
                    <a:pt x="268605" y="378460"/>
                    <a:pt x="262255" y="401320"/>
                    <a:pt x="264160" y="359410"/>
                  </a:cubicBezTo>
                  <a:cubicBezTo>
                    <a:pt x="266065" y="317500"/>
                    <a:pt x="248285" y="215900"/>
                    <a:pt x="262255" y="177165"/>
                  </a:cubicBezTo>
                  <a:cubicBezTo>
                    <a:pt x="276225" y="138430"/>
                    <a:pt x="320675" y="164465"/>
                    <a:pt x="335280" y="165735"/>
                  </a:cubicBezTo>
                </a:path>
              </a:pathLst>
            </a:custGeom>
            <a:noFill/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椭圆 36">
              <a:extLst>
                <a:ext uri="{FF2B5EF4-FFF2-40B4-BE49-F238E27FC236}">
                  <a16:creationId xmlns:a16="http://schemas.microsoft.com/office/drawing/2014/main" id="{70B5D569-AF32-5945-4671-15DCDA1E578F}"/>
                </a:ext>
              </a:extLst>
            </p:cNvPr>
            <p:cNvSpPr/>
            <p:nvPr/>
          </p:nvSpPr>
          <p:spPr>
            <a:xfrm>
              <a:off x="5290" y="5081"/>
              <a:ext cx="119" cy="115"/>
            </a:xfrm>
            <a:prstGeom prst="ellipse">
              <a:avLst/>
            </a:prstGeom>
            <a:solidFill>
              <a:srgbClr val="3A86C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2" name="图片 523" descr="jiqiren1">
              <a:extLst>
                <a:ext uri="{FF2B5EF4-FFF2-40B4-BE49-F238E27FC236}">
                  <a16:creationId xmlns:a16="http://schemas.microsoft.com/office/drawing/2014/main" id="{AC4929ED-7336-AC60-69AD-4F53D3581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2" y="4715"/>
              <a:ext cx="291" cy="315"/>
            </a:xfrm>
            <a:prstGeom prst="rect">
              <a:avLst/>
            </a:prstGeom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C3740F9A-7CEB-B59C-D6B9-7853BBD941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13" r="3666"/>
          <a:stretch>
            <a:fillRect/>
          </a:stretch>
        </p:blipFill>
        <p:spPr>
          <a:xfrm>
            <a:off x="177390" y="4126184"/>
            <a:ext cx="2793173" cy="213767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07133FA-DB1D-6FD7-2504-17B5AF6323F8}"/>
              </a:ext>
            </a:extLst>
          </p:cNvPr>
          <p:cNvSpPr txBox="1"/>
          <p:nvPr/>
        </p:nvSpPr>
        <p:spPr>
          <a:xfrm>
            <a:off x="3185161" y="1686084"/>
            <a:ext cx="8643652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Rule-based Traditional Robots</a:t>
            </a:r>
            <a:endParaRPr lang="zh-CN" altLang="en-US" sz="2400" b="1" dirty="0"/>
          </a:p>
        </p:txBody>
      </p:sp>
      <p:sp>
        <p:nvSpPr>
          <p:cNvPr id="15" name="Google Shape;110;p4">
            <a:extLst>
              <a:ext uri="{FF2B5EF4-FFF2-40B4-BE49-F238E27FC236}">
                <a16:creationId xmlns:a16="http://schemas.microsoft.com/office/drawing/2014/main" id="{64157317-DF06-3DD5-7439-5DCD9936B42F}"/>
              </a:ext>
            </a:extLst>
          </p:cNvPr>
          <p:cNvSpPr txBox="1">
            <a:spLocks/>
          </p:cNvSpPr>
          <p:nvPr/>
        </p:nvSpPr>
        <p:spPr>
          <a:xfrm>
            <a:off x="3081651" y="2283396"/>
            <a:ext cx="7790341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</a:pPr>
            <a:r>
              <a:rPr lang="en-US" sz="2200" b="1" dirty="0"/>
              <a:t>Limited to easy tasks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sz="2200" b="1" dirty="0"/>
              <a:t>Limited generalizability to unknown scenarios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02702C-B41D-85C0-B86D-6E900486E2FD}"/>
              </a:ext>
            </a:extLst>
          </p:cNvPr>
          <p:cNvSpPr txBox="1"/>
          <p:nvPr/>
        </p:nvSpPr>
        <p:spPr>
          <a:xfrm>
            <a:off x="3185160" y="3964456"/>
            <a:ext cx="8643653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Embodied AI</a:t>
            </a:r>
            <a:endParaRPr lang="zh-CN" altLang="en-US" sz="2400" b="1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AD2EBC72-244C-76C5-5171-DF2DE337BD30}"/>
              </a:ext>
            </a:extLst>
          </p:cNvPr>
          <p:cNvSpPr/>
          <p:nvPr/>
        </p:nvSpPr>
        <p:spPr>
          <a:xfrm>
            <a:off x="7031026" y="3189540"/>
            <a:ext cx="505838" cy="5967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87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9EE257B-3745-32D5-044B-50358B87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0CDF4EA-ADB8-ECC8-873F-AE7927623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Robotics Diffusion Models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5BB7627-744C-B515-A98D-534EA509A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02538" y="1494313"/>
            <a:ext cx="5383770" cy="324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/>
              <a:t>Strong ability to handling multi-modal action distributions and high-dimensional action spaces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/>
              <a:t>But </a:t>
            </a:r>
            <a:r>
              <a:rPr lang="en-US" sz="2200" b="1" dirty="0">
                <a:solidFill>
                  <a:srgbClr val="C00000"/>
                </a:solidFill>
              </a:rPr>
              <a:t>suffer from iterative computing feature</a:t>
            </a:r>
            <a:r>
              <a:rPr lang="en-US" sz="2200" b="1" dirty="0"/>
              <a:t>: several sequential denoising steps (up to 100)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656F39-0B20-77A2-B5B3-D5C7A185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0" y="1524793"/>
            <a:ext cx="6575949" cy="5201871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88772A1-9C62-B119-A19F-30D97B6D1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934674"/>
              </p:ext>
            </p:extLst>
          </p:nvPr>
        </p:nvGraphicFramePr>
        <p:xfrm>
          <a:off x="6556766" y="4913104"/>
          <a:ext cx="538377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15336">
                  <a:extLst>
                    <a:ext uri="{9D8B030D-6E8A-4147-A177-3AD203B41FA5}">
                      <a16:colId xmlns:a16="http://schemas.microsoft.com/office/drawing/2014/main" val="1978360658"/>
                    </a:ext>
                  </a:extLst>
                </a:gridCol>
                <a:gridCol w="1662742">
                  <a:extLst>
                    <a:ext uri="{9D8B030D-6E8A-4147-A177-3AD203B41FA5}">
                      <a16:colId xmlns:a16="http://schemas.microsoft.com/office/drawing/2014/main" val="241197403"/>
                    </a:ext>
                  </a:extLst>
                </a:gridCol>
                <a:gridCol w="2105692">
                  <a:extLst>
                    <a:ext uri="{9D8B030D-6E8A-4147-A177-3AD203B41FA5}">
                      <a16:colId xmlns:a16="http://schemas.microsoft.com/office/drawing/2014/main" val="3977710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Model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Denoising Step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Frequency on GPU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4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Diffusion Policy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10 Hz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498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RDT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6 Hz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8084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6817968-64E0-974A-40DD-0E2E2223EE71}"/>
              </a:ext>
            </a:extLst>
          </p:cNvPr>
          <p:cNvSpPr/>
          <p:nvPr/>
        </p:nvSpPr>
        <p:spPr>
          <a:xfrm>
            <a:off x="10546080" y="5334000"/>
            <a:ext cx="670560" cy="661144"/>
          </a:xfrm>
          <a:prstGeom prst="rect">
            <a:avLst/>
          </a:prstGeom>
          <a:noFill/>
          <a:ln>
            <a:solidFill>
              <a:srgbClr val="9826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8E7753-50D9-9069-B6D4-6C970AF90E3E}"/>
              </a:ext>
            </a:extLst>
          </p:cNvPr>
          <p:cNvSpPr txBox="1"/>
          <p:nvPr/>
        </p:nvSpPr>
        <p:spPr>
          <a:xfrm>
            <a:off x="9382290" y="6173559"/>
            <a:ext cx="2828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Real-time: &gt; 30 Hz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11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4C18EA23-286F-152B-4EE2-1346197A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C10B726-B643-E6BA-1E55-B1DD76B11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Efficient Diffusion Models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B88387-C013-A1F4-8091-CA581C93AD97}"/>
              </a:ext>
            </a:extLst>
          </p:cNvPr>
          <p:cNvSpPr txBox="1"/>
          <p:nvPr/>
        </p:nvSpPr>
        <p:spPr>
          <a:xfrm>
            <a:off x="295276" y="1518243"/>
            <a:ext cx="5190791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Cache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56743A-DF6A-D3BC-3530-44D0B5CB0D13}"/>
              </a:ext>
            </a:extLst>
          </p:cNvPr>
          <p:cNvSpPr txBox="1"/>
          <p:nvPr/>
        </p:nvSpPr>
        <p:spPr>
          <a:xfrm>
            <a:off x="5781675" y="1518243"/>
            <a:ext cx="6181724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Differential Computing</a:t>
            </a:r>
            <a:endParaRPr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9A911B8-1719-D4E5-F9F2-7D1C60B4D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673" y="2223076"/>
            <a:ext cx="6181725" cy="173153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99F91E4-444B-B795-6C6A-988A976218C8}"/>
              </a:ext>
            </a:extLst>
          </p:cNvPr>
          <p:cNvGrpSpPr/>
          <p:nvPr/>
        </p:nvGrpSpPr>
        <p:grpSpPr>
          <a:xfrm>
            <a:off x="919465" y="2056852"/>
            <a:ext cx="3766835" cy="2165590"/>
            <a:chOff x="1024240" y="2371797"/>
            <a:chExt cx="3939539" cy="232381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03F843D-DB8B-C0D4-A62E-D22C9D4CA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8"/>
            <a:stretch/>
          </p:blipFill>
          <p:spPr>
            <a:xfrm>
              <a:off x="1024240" y="2414175"/>
              <a:ext cx="3939539" cy="2281439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CB1C24F-2366-1347-CBDB-218EE1918D75}"/>
                </a:ext>
              </a:extLst>
            </p:cNvPr>
            <p:cNvSpPr/>
            <p:nvPr/>
          </p:nvSpPr>
          <p:spPr>
            <a:xfrm rot="20251768">
              <a:off x="1304306" y="2389187"/>
              <a:ext cx="84757" cy="63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43140FC-A607-691B-85E7-34E1114B1870}"/>
                </a:ext>
              </a:extLst>
            </p:cNvPr>
            <p:cNvSpPr/>
            <p:nvPr/>
          </p:nvSpPr>
          <p:spPr>
            <a:xfrm rot="1086324">
              <a:off x="2273474" y="2384425"/>
              <a:ext cx="84757" cy="63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EC27EEF-F009-96F9-AAEF-23846252F491}"/>
                </a:ext>
              </a:extLst>
            </p:cNvPr>
            <p:cNvSpPr/>
            <p:nvPr/>
          </p:nvSpPr>
          <p:spPr>
            <a:xfrm rot="18820999">
              <a:off x="3718892" y="2392517"/>
              <a:ext cx="84757" cy="63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5B09BD1-B078-439A-D211-1CBE22729EC0}"/>
                </a:ext>
              </a:extLst>
            </p:cNvPr>
            <p:cNvSpPr/>
            <p:nvPr/>
          </p:nvSpPr>
          <p:spPr>
            <a:xfrm rot="2740445">
              <a:off x="4659487" y="2382473"/>
              <a:ext cx="84757" cy="63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Google Shape;110;p4">
            <a:extLst>
              <a:ext uri="{FF2B5EF4-FFF2-40B4-BE49-F238E27FC236}">
                <a16:creationId xmlns:a16="http://schemas.microsoft.com/office/drawing/2014/main" id="{3FFD7321-F1E6-5BDE-0565-55E9676A840C}"/>
              </a:ext>
            </a:extLst>
          </p:cNvPr>
          <p:cNvSpPr txBox="1">
            <a:spLocks/>
          </p:cNvSpPr>
          <p:nvPr/>
        </p:nvSpPr>
        <p:spPr>
          <a:xfrm>
            <a:off x="140339" y="4426374"/>
            <a:ext cx="5777015" cy="10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sz="1400" b="1" dirty="0"/>
              <a:t>Directly reuse the results of attention and FFN every </a:t>
            </a:r>
            <a:r>
              <a:rPr lang="en-US" altLang="zh-CN" sz="1400" b="1" dirty="0"/>
              <a:t>𝑁</a:t>
            </a:r>
            <a:r>
              <a:rPr lang="en-US" sz="1400" b="1" dirty="0"/>
              <a:t> steps 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sz="1400" b="1" dirty="0"/>
              <a:t>The parameter 𝑁 is hard to tune and </a:t>
            </a:r>
            <a:r>
              <a:rPr lang="en-US" sz="1400" b="1" dirty="0">
                <a:solidFill>
                  <a:srgbClr val="C00000"/>
                </a:solidFill>
              </a:rPr>
              <a:t>applying cache to robotics diffusion leads to a sharp reduction of average success rate</a:t>
            </a:r>
          </a:p>
        </p:txBody>
      </p:sp>
      <p:sp>
        <p:nvSpPr>
          <p:cNvPr id="17" name="Google Shape;110;p4">
            <a:extLst>
              <a:ext uri="{FF2B5EF4-FFF2-40B4-BE49-F238E27FC236}">
                <a16:creationId xmlns:a16="http://schemas.microsoft.com/office/drawing/2014/main" id="{EC98DD97-9525-1393-70E6-EA596521D2F5}"/>
              </a:ext>
            </a:extLst>
          </p:cNvPr>
          <p:cNvSpPr txBox="1">
            <a:spLocks/>
          </p:cNvSpPr>
          <p:nvPr/>
        </p:nvSpPr>
        <p:spPr>
          <a:xfrm>
            <a:off x="5955454" y="4108142"/>
            <a:ext cx="6046046" cy="141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sz="1400" b="1" dirty="0"/>
              <a:t>Differential computing constrains input differences to a narrower range, enabling low-bit computation.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</a:rPr>
              <a:t>It introduces extra memory access overhead and can </a:t>
            </a:r>
            <a:r>
              <a:rPr lang="en-US" sz="1400" b="1" dirty="0">
                <a:solidFill>
                  <a:srgbClr val="C00000"/>
                </a:solidFill>
              </a:rPr>
              <a:t>only quantize 50–90% of these differences into half-precision format</a:t>
            </a:r>
            <a:r>
              <a:rPr lang="en-US" sz="14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6F504B-DB67-2C1B-67E2-C4B6FE9A6E5C}"/>
              </a:ext>
            </a:extLst>
          </p:cNvPr>
          <p:cNvSpPr txBox="1"/>
          <p:nvPr/>
        </p:nvSpPr>
        <p:spPr>
          <a:xfrm>
            <a:off x="919465" y="5726491"/>
            <a:ext cx="10300985" cy="8309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Sparse computing serves as a more efficient approach for diffusion model acceleration, yet it is plagued by critical issues.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9170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B31D080-E8FF-19CD-E497-1BD1E80F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CEEE9BA-FD63-6B91-A741-4B0D3E4A0D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Challenge 1</a:t>
            </a:r>
            <a:r>
              <a:rPr lang="zh-CN" altLang="en-US" dirty="0">
                <a:solidFill>
                  <a:srgbClr val="982668"/>
                </a:solidFill>
              </a:rPr>
              <a:t>：</a:t>
            </a:r>
            <a:br>
              <a:rPr lang="en-US" dirty="0">
                <a:solidFill>
                  <a:srgbClr val="982668"/>
                </a:solidFill>
              </a:rPr>
            </a:br>
            <a:r>
              <a:rPr lang="en-US" dirty="0">
                <a:solidFill>
                  <a:srgbClr val="982668"/>
                </a:solidFill>
              </a:rPr>
              <a:t>High Similarity to High Sparsity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EADA548-D639-210E-02C0-83A36ADEC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89" y="5450157"/>
            <a:ext cx="1126362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/>
              <a:t>Existing </a:t>
            </a:r>
            <a:r>
              <a:rPr lang="en-US" altLang="zh-CN" sz="2200" b="1" dirty="0"/>
              <a:t>works found high similarity between adjacent time steps, but failed to fully leverage the similar characteristics, resulting in </a:t>
            </a:r>
            <a:r>
              <a:rPr lang="en-US" altLang="zh-CN" sz="2200" b="1" dirty="0">
                <a:solidFill>
                  <a:srgbClr val="C00000"/>
                </a:solidFill>
              </a:rPr>
              <a:t>lower overall network sparsity.</a:t>
            </a:r>
            <a:endParaRPr lang="en-US" sz="2200" dirty="0">
              <a:solidFill>
                <a:srgbClr val="C0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99B6A2-3F4C-74DB-3C47-DD4114C5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39" y="1570513"/>
            <a:ext cx="9008101" cy="38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3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E1823AB-5342-957B-D827-CA2E248B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2B6A56D-0B0D-4C05-4E8E-516D42695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Challenge 2:</a:t>
            </a:r>
            <a:br>
              <a:rPr lang="en-US" dirty="0">
                <a:solidFill>
                  <a:srgbClr val="982668"/>
                </a:solidFill>
              </a:rPr>
            </a:br>
            <a:r>
              <a:rPr lang="en-US" dirty="0">
                <a:solidFill>
                  <a:srgbClr val="982668"/>
                </a:solidFill>
              </a:rPr>
              <a:t>High Sparsity to High Efficiency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39CA9B2-B5BE-149C-8755-1AC01C4AC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73365" y="2041685"/>
            <a:ext cx="6455448" cy="386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150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</a:rPr>
              <a:t>High unstructured sparsity fails to translate into substantial hardware speedup, primarily due to the low utilization of PEs.</a:t>
            </a:r>
            <a:endParaRPr lang="en-US" sz="2200" b="1" dirty="0">
              <a:solidFill>
                <a:srgbClr val="C00000"/>
              </a:solidFill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/>
              <a:t>GPUs: fixed sparse mode(2:4), not flexible enough for algorithm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200" b="1" dirty="0"/>
              <a:t>ASICs: workload imbalance among PEs; high overhead in merging and dataflow control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A3B513-0BC7-ACBA-25A5-23D9F5810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1" y="1909163"/>
            <a:ext cx="4270693" cy="377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6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A90ACB7-F58D-436B-3792-E7350DFD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218C680-E4A5-496A-0B82-11E9749D6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Challenge 3:</a:t>
            </a:r>
            <a:br>
              <a:rPr lang="en-US" dirty="0">
                <a:solidFill>
                  <a:srgbClr val="982668"/>
                </a:solidFill>
              </a:rPr>
            </a:br>
            <a:r>
              <a:rPr lang="en-US" dirty="0">
                <a:solidFill>
                  <a:srgbClr val="982668"/>
                </a:solidFill>
              </a:rPr>
              <a:t>High Overhead of NMOs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C62DBE4-7EAC-2D66-775C-4843FF543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98434" y="1918025"/>
            <a:ext cx="6374296" cy="463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 dirty="0"/>
              <a:t>There are a variety of non-matrix-multiplication operators (NMOs) with </a:t>
            </a:r>
            <a:r>
              <a:rPr lang="en-US" b="1" dirty="0">
                <a:solidFill>
                  <a:srgbClr val="C00000"/>
                </a:solidFill>
              </a:rPr>
              <a:t>high overhead of floating-point arithmetic</a:t>
            </a:r>
            <a:r>
              <a:rPr lang="en-US" b="1" dirty="0"/>
              <a:t> in diffusion models.</a:t>
            </a:r>
          </a:p>
          <a:p>
            <a:pPr marL="2286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 dirty="0">
                <a:solidFill>
                  <a:srgbClr val="C00000"/>
                </a:solidFill>
              </a:rPr>
              <a:t>As matrix multiplication grow sparser, NMOs account for an increasing proportion of overall latency</a:t>
            </a:r>
            <a:r>
              <a:rPr lang="en-US" b="1" dirty="0">
                <a:solidFill>
                  <a:schemeClr val="tx1"/>
                </a:solidFill>
              </a:rPr>
              <a:t>, a factor always overlooked by prior sparse accelerators.</a:t>
            </a:r>
            <a:br>
              <a:rPr lang="en-US" altLang="zh-C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7F4B88-4BF8-32A5-BFFE-68D1A49D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173"/>
          <a:stretch>
            <a:fillRect/>
          </a:stretch>
        </p:blipFill>
        <p:spPr>
          <a:xfrm>
            <a:off x="236652" y="2156564"/>
            <a:ext cx="5246399" cy="356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4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4ED134B3-DE8F-FC81-A219-30A50DA5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97ABEAA-8F21-E162-34F6-66EF3C5A9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235088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Contributions:  </a:t>
            </a:r>
            <a:br>
              <a:rPr lang="en-US" dirty="0">
                <a:solidFill>
                  <a:srgbClr val="982668"/>
                </a:solidFill>
              </a:rPr>
            </a:br>
            <a:r>
              <a:rPr lang="en-US" dirty="0">
                <a:solidFill>
                  <a:srgbClr val="982668"/>
                </a:solidFill>
              </a:rPr>
              <a:t>Algorithm-Architecture Co-Design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D230E84-C769-C8A7-9A14-6B9AD5455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0181" y="1996795"/>
            <a:ext cx="11111637" cy="4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We propose </a:t>
            </a:r>
            <a:r>
              <a:rPr lang="en-US" b="1" dirty="0"/>
              <a:t>a fine-grained and difference-aware cache algorithm</a:t>
            </a:r>
            <a:r>
              <a:rPr lang="en-US" dirty="0"/>
              <a:t> to ach-</a:t>
            </a:r>
            <a:r>
              <a:rPr lang="en-US" dirty="0" err="1"/>
              <a:t>ieve</a:t>
            </a:r>
            <a:r>
              <a:rPr lang="en-US" dirty="0"/>
              <a:t> over 90% sparsity with less than 1% performance degradation.</a:t>
            </a:r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We introduce </a:t>
            </a:r>
            <a:r>
              <a:rPr lang="en-US" b="1" dirty="0"/>
              <a:t>two-level group sparsity adjusting</a:t>
            </a:r>
            <a:r>
              <a:rPr lang="en-US" dirty="0"/>
              <a:t> to bridge sparse algorithm and hardware.  </a:t>
            </a:r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We conduct a detailed analysis of the computation of all involved NMOs and design </a:t>
            </a:r>
            <a:r>
              <a:rPr lang="en-US" b="1" dirty="0"/>
              <a:t>a graph-based vector processing array</a:t>
            </a:r>
            <a:r>
              <a:rPr lang="en-US" dirty="0"/>
              <a:t>. </a:t>
            </a:r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Compared with the prior state-of-the-art accelerators, our work achieves </a:t>
            </a:r>
            <a:r>
              <a:rPr lang="en-US" b="1" dirty="0"/>
              <a:t>1.56-2.60× speedup and 6.45-7.85× improvement on energy efficiency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80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0717A2B-DD99-1CA0-3559-5188E6CD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7F0FA70-C127-FBB1-227B-D4053EE97E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7" y="3174380"/>
            <a:ext cx="11617407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Sparsification Strategy for Robotics Diffusion Models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67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8D8014E-FB99-ADAE-8F03-92E1CEAA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A62F9B8-37A5-D892-4882-14DEC5541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Motivation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E79783-CCC4-F16A-7F2A-C99FA97C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41" r="45721"/>
          <a:stretch>
            <a:fillRect/>
          </a:stretch>
        </p:blipFill>
        <p:spPr>
          <a:xfrm>
            <a:off x="204163" y="2113850"/>
            <a:ext cx="3510587" cy="2975949"/>
          </a:xfrm>
          <a:prstGeom prst="rect">
            <a:avLst/>
          </a:prstGeom>
        </p:spPr>
      </p:pic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41BF5715-9DE2-4CF5-AC92-1F355EB70C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582397"/>
              </p:ext>
            </p:extLst>
          </p:nvPr>
        </p:nvGraphicFramePr>
        <p:xfrm>
          <a:off x="7917461" y="4120374"/>
          <a:ext cx="3841776" cy="2189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C85109C-C004-69CA-766F-8DF9166B35BA}"/>
              </a:ext>
            </a:extLst>
          </p:cNvPr>
          <p:cNvSpPr txBox="1"/>
          <p:nvPr/>
        </p:nvSpPr>
        <p:spPr>
          <a:xfrm>
            <a:off x="401294" y="1533429"/>
            <a:ext cx="6980582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Similarity in Diffusion Model</a:t>
            </a:r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82059-C924-97CE-5E86-E401AB3A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95" t="13328" r="259"/>
          <a:stretch>
            <a:fillRect/>
          </a:stretch>
        </p:blipFill>
        <p:spPr>
          <a:xfrm>
            <a:off x="4045940" y="2113850"/>
            <a:ext cx="3332147" cy="31015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F7A22C-B7BF-836D-E239-417204A06C0E}"/>
              </a:ext>
            </a:extLst>
          </p:cNvPr>
          <p:cNvSpPr txBox="1"/>
          <p:nvPr/>
        </p:nvSpPr>
        <p:spPr>
          <a:xfrm>
            <a:off x="7638899" y="1533429"/>
            <a:ext cx="4264191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Bottleneck Analysis</a:t>
            </a:r>
            <a:endParaRPr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5B9B32-BB71-26C6-4750-451FC750CBFA}"/>
              </a:ext>
            </a:extLst>
          </p:cNvPr>
          <p:cNvSpPr txBox="1"/>
          <p:nvPr/>
        </p:nvSpPr>
        <p:spPr>
          <a:xfrm>
            <a:off x="53538" y="5208555"/>
            <a:ext cx="3992402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</a:rPr>
              <a:t>Computation redundancy: </a:t>
            </a:r>
            <a:r>
              <a:rPr lang="en-US" altLang="zh-CN" sz="1800" b="1" dirty="0">
                <a:solidFill>
                  <a:schemeClr val="tx1"/>
                </a:solidFill>
              </a:rPr>
              <a:t>each step in fact contributes only a small part of change. 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8F972C-FBAA-63FE-77D1-3684801342F7}"/>
              </a:ext>
            </a:extLst>
          </p:cNvPr>
          <p:cNvSpPr txBox="1"/>
          <p:nvPr/>
        </p:nvSpPr>
        <p:spPr>
          <a:xfrm>
            <a:off x="4045940" y="5215355"/>
            <a:ext cx="420192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</a:rPr>
              <a:t>The distribution of input differences between each step and first step is also similar. 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42F0BC-2AF9-569B-60EE-6920FC93525B}"/>
              </a:ext>
            </a:extLst>
          </p:cNvPr>
          <p:cNvSpPr txBox="1"/>
          <p:nvPr/>
        </p:nvSpPr>
        <p:spPr>
          <a:xfrm>
            <a:off x="7638899" y="2013236"/>
            <a:ext cx="4348938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chemeClr val="tx1"/>
                </a:solidFill>
              </a:rPr>
              <a:t>Unlike image and video generation models, robotics diffusion models involve </a:t>
            </a:r>
            <a:r>
              <a:rPr lang="en-US" altLang="zh-CN" sz="1800" b="1" dirty="0">
                <a:solidFill>
                  <a:srgbClr val="C00000"/>
                </a:solidFill>
              </a:rPr>
              <a:t>fewer tokens</a:t>
            </a:r>
            <a:r>
              <a:rPr lang="en-US" altLang="zh-CN" sz="1800" b="1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</a:rPr>
              <a:t>Over 99% matrix multiplication is linear computation </a:t>
            </a:r>
            <a:r>
              <a:rPr lang="en-US" altLang="zh-CN" sz="1800" b="1" dirty="0">
                <a:solidFill>
                  <a:schemeClr val="tx1"/>
                </a:solidFill>
              </a:rPr>
              <a:t>( input × weight )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353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58EF3AF-3842-BC74-9806-B057647A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0EF3194-A375-5858-C94D-08C591D810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4887" y="199230"/>
            <a:ext cx="103727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dirty="0">
                <a:solidFill>
                  <a:srgbClr val="982668"/>
                </a:solidFill>
              </a:rPr>
              <a:t>Fine-Grained and Difference-Aware Cache</a:t>
            </a:r>
            <a:endParaRPr sz="4000" dirty="0">
              <a:solidFill>
                <a:srgbClr val="98266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A90440-39E5-E01D-0B81-116D2BC05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" y="1524793"/>
            <a:ext cx="9089566" cy="4867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50F5EE-9EBA-F4AA-814A-EF79F491A025}"/>
              </a:ext>
            </a:extLst>
          </p:cNvPr>
          <p:cNvSpPr txBox="1"/>
          <p:nvPr/>
        </p:nvSpPr>
        <p:spPr>
          <a:xfrm>
            <a:off x="9042400" y="2989552"/>
            <a:ext cx="3149600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Inputs with minimal differences can be seen unnecessary.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FDC is applied in </a:t>
            </a:r>
            <a:r>
              <a:rPr lang="en-US" altLang="zh-CN" sz="2000" b="1" dirty="0">
                <a:solidFill>
                  <a:srgbClr val="C00000"/>
                </a:solidFill>
              </a:rPr>
              <a:t>all linear layers</a:t>
            </a:r>
            <a:r>
              <a:rPr lang="en-US" altLang="zh-CN" sz="2000" b="1" dirty="0"/>
              <a:t>. 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9083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10A4CD2-71F1-EA19-3F64-05D2BCED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D3C2922-8FB6-AC36-8949-AD29F6AD2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4512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Two-Level Group Sparsity Adjusting</a:t>
            </a:r>
            <a:endParaRPr dirty="0">
              <a:solidFill>
                <a:srgbClr val="982668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B319D3-E0B1-71A7-9B3F-8A28DF874B9D}"/>
              </a:ext>
            </a:extLst>
          </p:cNvPr>
          <p:cNvGrpSpPr/>
          <p:nvPr/>
        </p:nvGrpSpPr>
        <p:grpSpPr>
          <a:xfrm>
            <a:off x="550454" y="1628545"/>
            <a:ext cx="1008000" cy="1008000"/>
            <a:chOff x="891752" y="3151715"/>
            <a:chExt cx="1008000" cy="100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5FF0EFE-FB70-9D6E-7A00-3F5B8C9B67A2}"/>
                </a:ext>
              </a:extLst>
            </p:cNvPr>
            <p:cNvSpPr/>
            <p:nvPr/>
          </p:nvSpPr>
          <p:spPr>
            <a:xfrm>
              <a:off x="891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E6EB404-74D5-5815-D91E-15F1B6BD82D5}"/>
                </a:ext>
              </a:extLst>
            </p:cNvPr>
            <p:cNvSpPr/>
            <p:nvPr/>
          </p:nvSpPr>
          <p:spPr>
            <a:xfrm>
              <a:off x="1143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C13FBA1-C2DB-AD88-F480-B4CCCCEC2123}"/>
                </a:ext>
              </a:extLst>
            </p:cNvPr>
            <p:cNvSpPr/>
            <p:nvPr/>
          </p:nvSpPr>
          <p:spPr>
            <a:xfrm>
              <a:off x="1143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4DDC880-5E9F-01E1-1517-7DE930CA4A83}"/>
                </a:ext>
              </a:extLst>
            </p:cNvPr>
            <p:cNvSpPr/>
            <p:nvPr/>
          </p:nvSpPr>
          <p:spPr>
            <a:xfrm>
              <a:off x="1395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6D995B1-860F-500F-4C5B-113E765BCC86}"/>
                </a:ext>
              </a:extLst>
            </p:cNvPr>
            <p:cNvSpPr/>
            <p:nvPr/>
          </p:nvSpPr>
          <p:spPr>
            <a:xfrm>
              <a:off x="1395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98B7F6E-BB00-F4A8-2793-A44C401A87F3}"/>
                </a:ext>
              </a:extLst>
            </p:cNvPr>
            <p:cNvSpPr/>
            <p:nvPr/>
          </p:nvSpPr>
          <p:spPr>
            <a:xfrm>
              <a:off x="1647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69AC370-EAEB-3CBA-6057-570D15056509}"/>
                </a:ext>
              </a:extLst>
            </p:cNvPr>
            <p:cNvSpPr/>
            <p:nvPr/>
          </p:nvSpPr>
          <p:spPr>
            <a:xfrm>
              <a:off x="1647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D74D1DF-5B2F-FA0A-32B9-7FD2A57E977F}"/>
                </a:ext>
              </a:extLst>
            </p:cNvPr>
            <p:cNvSpPr/>
            <p:nvPr/>
          </p:nvSpPr>
          <p:spPr>
            <a:xfrm>
              <a:off x="891752" y="3151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773D0C8-C962-C5D9-D68F-A7A914ECECCB}"/>
                </a:ext>
              </a:extLst>
            </p:cNvPr>
            <p:cNvSpPr/>
            <p:nvPr/>
          </p:nvSpPr>
          <p:spPr>
            <a:xfrm>
              <a:off x="1395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F28E3E1-FDA7-2CDF-944A-E2242DB64478}"/>
                </a:ext>
              </a:extLst>
            </p:cNvPr>
            <p:cNvSpPr/>
            <p:nvPr/>
          </p:nvSpPr>
          <p:spPr>
            <a:xfrm>
              <a:off x="1395752" y="3403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BCA94E4-D6F1-76A5-A628-10DB46A49EC8}"/>
                </a:ext>
              </a:extLst>
            </p:cNvPr>
            <p:cNvSpPr/>
            <p:nvPr/>
          </p:nvSpPr>
          <p:spPr>
            <a:xfrm>
              <a:off x="1647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76B6E95-0B23-7888-659D-6658CF21E42B}"/>
                </a:ext>
              </a:extLst>
            </p:cNvPr>
            <p:cNvSpPr/>
            <p:nvPr/>
          </p:nvSpPr>
          <p:spPr>
            <a:xfrm>
              <a:off x="1647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C77F3F4-521E-9EB8-9DD6-5338E9ED1091}"/>
                </a:ext>
              </a:extLst>
            </p:cNvPr>
            <p:cNvSpPr/>
            <p:nvPr/>
          </p:nvSpPr>
          <p:spPr>
            <a:xfrm>
              <a:off x="891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0F79DA2-C304-82FD-4CE3-312C63F6E800}"/>
                </a:ext>
              </a:extLst>
            </p:cNvPr>
            <p:cNvSpPr/>
            <p:nvPr/>
          </p:nvSpPr>
          <p:spPr>
            <a:xfrm>
              <a:off x="891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D5D409C-FBA6-AFF0-952C-73D599EF4739}"/>
                </a:ext>
              </a:extLst>
            </p:cNvPr>
            <p:cNvSpPr/>
            <p:nvPr/>
          </p:nvSpPr>
          <p:spPr>
            <a:xfrm>
              <a:off x="1143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714BC2-EBD5-9070-2302-786829EE8D59}"/>
                </a:ext>
              </a:extLst>
            </p:cNvPr>
            <p:cNvSpPr/>
            <p:nvPr/>
          </p:nvSpPr>
          <p:spPr>
            <a:xfrm>
              <a:off x="1143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3CAE3F5-7BEF-5D50-1386-A34E2C1D8115}"/>
              </a:ext>
            </a:extLst>
          </p:cNvPr>
          <p:cNvSpPr txBox="1"/>
          <p:nvPr/>
        </p:nvSpPr>
        <p:spPr>
          <a:xfrm>
            <a:off x="136791" y="3384871"/>
            <a:ext cx="4974439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/>
              <a:t>GPU: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Tensor Core only support 2:4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/>
              <a:t>ASIC: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extra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network/architecture support</a:t>
            </a:r>
            <a:endParaRPr lang="zh-CN" altLang="en-US" sz="1800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CBBE76A-54CE-7DB7-00A2-63FE7959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" y="4419586"/>
            <a:ext cx="3832860" cy="101346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4729AAE-FCAE-E2D0-E093-458DB5DEF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552" y="4419586"/>
            <a:ext cx="3832860" cy="101346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D14600C-E818-C557-E870-0C19354C3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330" y="1224305"/>
            <a:ext cx="1383030" cy="1680210"/>
          </a:xfrm>
          <a:prstGeom prst="rect">
            <a:avLst/>
          </a:prstGeom>
        </p:spPr>
      </p:pic>
      <p:sp>
        <p:nvSpPr>
          <p:cNvPr id="25" name="下箭头 10">
            <a:extLst>
              <a:ext uri="{FF2B5EF4-FFF2-40B4-BE49-F238E27FC236}">
                <a16:creationId xmlns:a16="http://schemas.microsoft.com/office/drawing/2014/main" id="{43208D15-3C74-1D9F-B1AA-F89DFB6D6498}"/>
              </a:ext>
            </a:extLst>
          </p:cNvPr>
          <p:cNvSpPr/>
          <p:nvPr/>
        </p:nvSpPr>
        <p:spPr>
          <a:xfrm rot="16200000">
            <a:off x="1951403" y="1894171"/>
            <a:ext cx="255494" cy="406771"/>
          </a:xfrm>
          <a:prstGeom prst="downArrow">
            <a:avLst/>
          </a:prstGeom>
          <a:solidFill>
            <a:srgbClr val="133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4B0940A-4EAE-3C2D-FFF8-057D35CE0CB3}"/>
              </a:ext>
            </a:extLst>
          </p:cNvPr>
          <p:cNvGrpSpPr/>
          <p:nvPr/>
        </p:nvGrpSpPr>
        <p:grpSpPr>
          <a:xfrm>
            <a:off x="5461285" y="1585337"/>
            <a:ext cx="1008000" cy="1008000"/>
            <a:chOff x="891752" y="3151715"/>
            <a:chExt cx="1008000" cy="100800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A27C944-4CA9-D9E3-32CC-BE7F1229EDB3}"/>
                </a:ext>
              </a:extLst>
            </p:cNvPr>
            <p:cNvSpPr/>
            <p:nvPr/>
          </p:nvSpPr>
          <p:spPr>
            <a:xfrm>
              <a:off x="891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5562440-B6D2-8355-A48D-FA111767A5E4}"/>
                </a:ext>
              </a:extLst>
            </p:cNvPr>
            <p:cNvSpPr/>
            <p:nvPr/>
          </p:nvSpPr>
          <p:spPr>
            <a:xfrm>
              <a:off x="1143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1029E61-A19C-6B14-47D1-4704700840E7}"/>
                </a:ext>
              </a:extLst>
            </p:cNvPr>
            <p:cNvSpPr/>
            <p:nvPr/>
          </p:nvSpPr>
          <p:spPr>
            <a:xfrm>
              <a:off x="1143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0099F81-4FF5-CA2E-84CD-63DBC867B523}"/>
                </a:ext>
              </a:extLst>
            </p:cNvPr>
            <p:cNvSpPr/>
            <p:nvPr/>
          </p:nvSpPr>
          <p:spPr>
            <a:xfrm>
              <a:off x="1395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3D337B-857C-4A00-3270-A0697D30BE15}"/>
                </a:ext>
              </a:extLst>
            </p:cNvPr>
            <p:cNvSpPr/>
            <p:nvPr/>
          </p:nvSpPr>
          <p:spPr>
            <a:xfrm>
              <a:off x="1395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60440A4-2AD0-5E37-9D3C-43355B752219}"/>
                </a:ext>
              </a:extLst>
            </p:cNvPr>
            <p:cNvSpPr/>
            <p:nvPr/>
          </p:nvSpPr>
          <p:spPr>
            <a:xfrm>
              <a:off x="1647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B456E79-30C0-490A-35CF-89C3B51E7458}"/>
                </a:ext>
              </a:extLst>
            </p:cNvPr>
            <p:cNvSpPr/>
            <p:nvPr/>
          </p:nvSpPr>
          <p:spPr>
            <a:xfrm>
              <a:off x="1647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66F34E9-6D01-4DF8-C357-F4434A6BCC5F}"/>
                </a:ext>
              </a:extLst>
            </p:cNvPr>
            <p:cNvSpPr/>
            <p:nvPr/>
          </p:nvSpPr>
          <p:spPr>
            <a:xfrm>
              <a:off x="891752" y="3151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9E59FF6-ACDE-5E1F-1BB0-6970DB5D87C8}"/>
                </a:ext>
              </a:extLst>
            </p:cNvPr>
            <p:cNvSpPr/>
            <p:nvPr/>
          </p:nvSpPr>
          <p:spPr>
            <a:xfrm>
              <a:off x="1395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50975E1-760B-155A-BAAB-1B2F9A0BFD50}"/>
                </a:ext>
              </a:extLst>
            </p:cNvPr>
            <p:cNvSpPr/>
            <p:nvPr/>
          </p:nvSpPr>
          <p:spPr>
            <a:xfrm>
              <a:off x="1395752" y="3403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9F0D4AE-5F03-0E4A-230B-6C521191D5FD}"/>
                </a:ext>
              </a:extLst>
            </p:cNvPr>
            <p:cNvSpPr/>
            <p:nvPr/>
          </p:nvSpPr>
          <p:spPr>
            <a:xfrm>
              <a:off x="1647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0677B6F-9EEB-7757-3147-13C14244288A}"/>
                </a:ext>
              </a:extLst>
            </p:cNvPr>
            <p:cNvSpPr/>
            <p:nvPr/>
          </p:nvSpPr>
          <p:spPr>
            <a:xfrm>
              <a:off x="1647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945B3FC-97AB-1A04-BFA3-9D577F9EED6A}"/>
                </a:ext>
              </a:extLst>
            </p:cNvPr>
            <p:cNvSpPr/>
            <p:nvPr/>
          </p:nvSpPr>
          <p:spPr>
            <a:xfrm>
              <a:off x="891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7B27CF1-4713-CBEB-572A-25FB0DE9C033}"/>
                </a:ext>
              </a:extLst>
            </p:cNvPr>
            <p:cNvSpPr/>
            <p:nvPr/>
          </p:nvSpPr>
          <p:spPr>
            <a:xfrm>
              <a:off x="891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385E784-14D9-9D31-4440-354B84551F84}"/>
                </a:ext>
              </a:extLst>
            </p:cNvPr>
            <p:cNvSpPr/>
            <p:nvPr/>
          </p:nvSpPr>
          <p:spPr>
            <a:xfrm>
              <a:off x="1143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1973C61-9770-4C01-2003-2CE898CA8BBD}"/>
                </a:ext>
              </a:extLst>
            </p:cNvPr>
            <p:cNvSpPr/>
            <p:nvPr/>
          </p:nvSpPr>
          <p:spPr>
            <a:xfrm>
              <a:off x="1143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4" name="下箭头 10">
            <a:extLst>
              <a:ext uri="{FF2B5EF4-FFF2-40B4-BE49-F238E27FC236}">
                <a16:creationId xmlns:a16="http://schemas.microsoft.com/office/drawing/2014/main" id="{EC3561FA-5DB1-371A-ADD6-FFFBDBEDF4F7}"/>
              </a:ext>
            </a:extLst>
          </p:cNvPr>
          <p:cNvSpPr/>
          <p:nvPr/>
        </p:nvSpPr>
        <p:spPr>
          <a:xfrm rot="16200000">
            <a:off x="6925960" y="1861024"/>
            <a:ext cx="255494" cy="406771"/>
          </a:xfrm>
          <a:prstGeom prst="downArrow">
            <a:avLst/>
          </a:prstGeom>
          <a:solidFill>
            <a:srgbClr val="133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9DAFF45-E74A-6A10-0D9F-F29F6D11CF98}"/>
              </a:ext>
            </a:extLst>
          </p:cNvPr>
          <p:cNvGrpSpPr/>
          <p:nvPr/>
        </p:nvGrpSpPr>
        <p:grpSpPr>
          <a:xfrm>
            <a:off x="7637794" y="1585337"/>
            <a:ext cx="1008000" cy="1008000"/>
            <a:chOff x="891752" y="3151715"/>
            <a:chExt cx="1008000" cy="100800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3235BC0-B4FD-B4F7-29A2-B28161F5564C}"/>
                </a:ext>
              </a:extLst>
            </p:cNvPr>
            <p:cNvSpPr/>
            <p:nvPr/>
          </p:nvSpPr>
          <p:spPr>
            <a:xfrm>
              <a:off x="891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56637E-392E-4DD4-1AC0-7383C968717A}"/>
                </a:ext>
              </a:extLst>
            </p:cNvPr>
            <p:cNvSpPr/>
            <p:nvPr/>
          </p:nvSpPr>
          <p:spPr>
            <a:xfrm>
              <a:off x="1143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DD97903-A0A2-83DD-3821-B3B5555D00E0}"/>
                </a:ext>
              </a:extLst>
            </p:cNvPr>
            <p:cNvSpPr/>
            <p:nvPr/>
          </p:nvSpPr>
          <p:spPr>
            <a:xfrm>
              <a:off x="1143752" y="3403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87FC82E-64BD-ABB4-867B-BF18EE93F954}"/>
                </a:ext>
              </a:extLst>
            </p:cNvPr>
            <p:cNvSpPr/>
            <p:nvPr/>
          </p:nvSpPr>
          <p:spPr>
            <a:xfrm>
              <a:off x="1395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F5EB25B-F91C-12C3-21CC-85CC286DFBC0}"/>
                </a:ext>
              </a:extLst>
            </p:cNvPr>
            <p:cNvSpPr/>
            <p:nvPr/>
          </p:nvSpPr>
          <p:spPr>
            <a:xfrm>
              <a:off x="1395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417A100-847F-B8D0-9D49-298EA814B358}"/>
                </a:ext>
              </a:extLst>
            </p:cNvPr>
            <p:cNvSpPr/>
            <p:nvPr/>
          </p:nvSpPr>
          <p:spPr>
            <a:xfrm>
              <a:off x="1647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36B839F-937E-433F-6C01-27E5C954CF87}"/>
                </a:ext>
              </a:extLst>
            </p:cNvPr>
            <p:cNvSpPr/>
            <p:nvPr/>
          </p:nvSpPr>
          <p:spPr>
            <a:xfrm>
              <a:off x="1647752" y="3907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4803A51-BC25-5678-1AEE-2AF05326EC90}"/>
                </a:ext>
              </a:extLst>
            </p:cNvPr>
            <p:cNvSpPr/>
            <p:nvPr/>
          </p:nvSpPr>
          <p:spPr>
            <a:xfrm>
              <a:off x="891752" y="3151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E7486FF-5ECA-150B-EE02-999CD1FC53FC}"/>
                </a:ext>
              </a:extLst>
            </p:cNvPr>
            <p:cNvSpPr/>
            <p:nvPr/>
          </p:nvSpPr>
          <p:spPr>
            <a:xfrm>
              <a:off x="1395752" y="3151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3451601-C746-AA38-3B2D-15AF9760D721}"/>
                </a:ext>
              </a:extLst>
            </p:cNvPr>
            <p:cNvSpPr/>
            <p:nvPr/>
          </p:nvSpPr>
          <p:spPr>
            <a:xfrm>
              <a:off x="1395752" y="3403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BC0E57C-0AC2-7223-8E2A-3279EBEFA817}"/>
                </a:ext>
              </a:extLst>
            </p:cNvPr>
            <p:cNvSpPr/>
            <p:nvPr/>
          </p:nvSpPr>
          <p:spPr>
            <a:xfrm>
              <a:off x="1647752" y="3151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83C3617-EB9F-3488-6F99-2ED06B798881}"/>
                </a:ext>
              </a:extLst>
            </p:cNvPr>
            <p:cNvSpPr/>
            <p:nvPr/>
          </p:nvSpPr>
          <p:spPr>
            <a:xfrm>
              <a:off x="1647752" y="3403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7C341F1-EED9-104B-71D3-C3ABBBC5326E}"/>
                </a:ext>
              </a:extLst>
            </p:cNvPr>
            <p:cNvSpPr/>
            <p:nvPr/>
          </p:nvSpPr>
          <p:spPr>
            <a:xfrm>
              <a:off x="891752" y="3655715"/>
              <a:ext cx="252000" cy="25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D46A4F6-1004-B538-C50C-C40A799F7186}"/>
                </a:ext>
              </a:extLst>
            </p:cNvPr>
            <p:cNvSpPr/>
            <p:nvPr/>
          </p:nvSpPr>
          <p:spPr>
            <a:xfrm>
              <a:off x="891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E7AAD42-9152-30C8-7884-612F58F90A5D}"/>
                </a:ext>
              </a:extLst>
            </p:cNvPr>
            <p:cNvSpPr/>
            <p:nvPr/>
          </p:nvSpPr>
          <p:spPr>
            <a:xfrm>
              <a:off x="1143752" y="3655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28DD9BB-66FA-ABED-9C1A-75243FA265B3}"/>
                </a:ext>
              </a:extLst>
            </p:cNvPr>
            <p:cNvSpPr/>
            <p:nvPr/>
          </p:nvSpPr>
          <p:spPr>
            <a:xfrm>
              <a:off x="1143752" y="3907715"/>
              <a:ext cx="252000" cy="252000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2C3A2FE-4F8D-066C-80A5-5DC502738D66}"/>
              </a:ext>
            </a:extLst>
          </p:cNvPr>
          <p:cNvGrpSpPr/>
          <p:nvPr/>
        </p:nvGrpSpPr>
        <p:grpSpPr>
          <a:xfrm>
            <a:off x="10030890" y="1585337"/>
            <a:ext cx="504000" cy="1008000"/>
            <a:chOff x="891752" y="3151715"/>
            <a:chExt cx="504000" cy="1008000"/>
          </a:xfrm>
          <a:solidFill>
            <a:srgbClr val="0070C0"/>
          </a:solidFill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846072CE-529B-109C-7295-934CDB7CBDCF}"/>
                </a:ext>
              </a:extLst>
            </p:cNvPr>
            <p:cNvSpPr/>
            <p:nvPr/>
          </p:nvSpPr>
          <p:spPr>
            <a:xfrm>
              <a:off x="891752" y="3403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FAB610D-8656-E57D-2DF9-655AB9E5D10E}"/>
                </a:ext>
              </a:extLst>
            </p:cNvPr>
            <p:cNvSpPr/>
            <p:nvPr/>
          </p:nvSpPr>
          <p:spPr>
            <a:xfrm>
              <a:off x="1143752" y="3151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59DBE53-7188-23FF-DC99-44620E3D6622}"/>
                </a:ext>
              </a:extLst>
            </p:cNvPr>
            <p:cNvSpPr/>
            <p:nvPr/>
          </p:nvSpPr>
          <p:spPr>
            <a:xfrm>
              <a:off x="1143752" y="3403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FE6CB01-842C-DFFA-004A-6488E6F8CE94}"/>
                </a:ext>
              </a:extLst>
            </p:cNvPr>
            <p:cNvSpPr/>
            <p:nvPr/>
          </p:nvSpPr>
          <p:spPr>
            <a:xfrm>
              <a:off x="891752" y="3151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33DBCEF-CCFE-2C48-470B-13BCC22B1CE5}"/>
                </a:ext>
              </a:extLst>
            </p:cNvPr>
            <p:cNvSpPr/>
            <p:nvPr/>
          </p:nvSpPr>
          <p:spPr>
            <a:xfrm>
              <a:off x="891752" y="3655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D8F6F60-A3A0-55CC-D9ED-1BF531BD2C0E}"/>
                </a:ext>
              </a:extLst>
            </p:cNvPr>
            <p:cNvSpPr/>
            <p:nvPr/>
          </p:nvSpPr>
          <p:spPr>
            <a:xfrm>
              <a:off x="891752" y="3907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9680B8E-28F6-21F8-7DCE-4D2D1810D602}"/>
                </a:ext>
              </a:extLst>
            </p:cNvPr>
            <p:cNvSpPr/>
            <p:nvPr/>
          </p:nvSpPr>
          <p:spPr>
            <a:xfrm>
              <a:off x="1143752" y="3655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AF0D4D7-9DF0-1323-6B90-DC376237B240}"/>
                </a:ext>
              </a:extLst>
            </p:cNvPr>
            <p:cNvSpPr/>
            <p:nvPr/>
          </p:nvSpPr>
          <p:spPr>
            <a:xfrm>
              <a:off x="1143752" y="3907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F47CA3F-8D98-9626-1ECA-BCB97FF5A99B}"/>
              </a:ext>
            </a:extLst>
          </p:cNvPr>
          <p:cNvGrpSpPr/>
          <p:nvPr/>
        </p:nvGrpSpPr>
        <p:grpSpPr>
          <a:xfrm>
            <a:off x="10951395" y="1585337"/>
            <a:ext cx="504000" cy="1008000"/>
            <a:chOff x="891752" y="3151715"/>
            <a:chExt cx="504000" cy="1008000"/>
          </a:xfrm>
          <a:solidFill>
            <a:srgbClr val="48599F"/>
          </a:solidFill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3CE3FE6-D8A0-F4AF-7A58-DDAD4C0A63BA}"/>
                </a:ext>
              </a:extLst>
            </p:cNvPr>
            <p:cNvSpPr/>
            <p:nvPr/>
          </p:nvSpPr>
          <p:spPr>
            <a:xfrm>
              <a:off x="891752" y="3403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7462F6B-9C56-0E87-240F-E8FFC827794C}"/>
                </a:ext>
              </a:extLst>
            </p:cNvPr>
            <p:cNvSpPr/>
            <p:nvPr/>
          </p:nvSpPr>
          <p:spPr>
            <a:xfrm>
              <a:off x="1143752" y="3151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A36A7F4-716F-7ED9-89ED-A45F0F0A5F6A}"/>
                </a:ext>
              </a:extLst>
            </p:cNvPr>
            <p:cNvSpPr/>
            <p:nvPr/>
          </p:nvSpPr>
          <p:spPr>
            <a:xfrm>
              <a:off x="1143752" y="3403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1136AD7D-E23E-CDB0-8349-675C81062966}"/>
                </a:ext>
              </a:extLst>
            </p:cNvPr>
            <p:cNvSpPr/>
            <p:nvPr/>
          </p:nvSpPr>
          <p:spPr>
            <a:xfrm>
              <a:off x="891752" y="3151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BD7E5A4-EECD-CBAF-C946-66884F503B35}"/>
                </a:ext>
              </a:extLst>
            </p:cNvPr>
            <p:cNvSpPr/>
            <p:nvPr/>
          </p:nvSpPr>
          <p:spPr>
            <a:xfrm>
              <a:off x="891752" y="3655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854DA0F-D651-2BD9-7D0C-089D5AFFBF5D}"/>
                </a:ext>
              </a:extLst>
            </p:cNvPr>
            <p:cNvSpPr/>
            <p:nvPr/>
          </p:nvSpPr>
          <p:spPr>
            <a:xfrm>
              <a:off x="891752" y="3907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24500D84-8782-1AD1-83AF-73813102311F}"/>
                </a:ext>
              </a:extLst>
            </p:cNvPr>
            <p:cNvSpPr/>
            <p:nvPr/>
          </p:nvSpPr>
          <p:spPr>
            <a:xfrm>
              <a:off x="1143752" y="3655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5E04B64-AD3D-433B-EA78-5165DB08C127}"/>
                </a:ext>
              </a:extLst>
            </p:cNvPr>
            <p:cNvSpPr/>
            <p:nvPr/>
          </p:nvSpPr>
          <p:spPr>
            <a:xfrm>
              <a:off x="1143752" y="3907715"/>
              <a:ext cx="252000" cy="252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下箭头 10">
            <a:extLst>
              <a:ext uri="{FF2B5EF4-FFF2-40B4-BE49-F238E27FC236}">
                <a16:creationId xmlns:a16="http://schemas.microsoft.com/office/drawing/2014/main" id="{251BF745-6BE8-043E-89EB-7BE5177761EC}"/>
              </a:ext>
            </a:extLst>
          </p:cNvPr>
          <p:cNvSpPr/>
          <p:nvPr/>
        </p:nvSpPr>
        <p:spPr>
          <a:xfrm rot="16200000">
            <a:off x="9227538" y="1871497"/>
            <a:ext cx="255494" cy="406771"/>
          </a:xfrm>
          <a:prstGeom prst="downArrow">
            <a:avLst/>
          </a:prstGeom>
          <a:solidFill>
            <a:srgbClr val="133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E06DA14-D1F3-69DF-7D86-C73CECAEDD6C}"/>
              </a:ext>
            </a:extLst>
          </p:cNvPr>
          <p:cNvSpPr txBox="1"/>
          <p:nvPr/>
        </p:nvSpPr>
        <p:spPr>
          <a:xfrm>
            <a:off x="10886819" y="2548971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index</a:t>
            </a:r>
            <a:endParaRPr lang="zh-CN" altLang="en-US" b="1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7BCB18A-2D63-DAF7-7DE6-3FCDFA273D4C}"/>
              </a:ext>
            </a:extLst>
          </p:cNvPr>
          <p:cNvSpPr txBox="1"/>
          <p:nvPr/>
        </p:nvSpPr>
        <p:spPr>
          <a:xfrm>
            <a:off x="5279515" y="3366095"/>
            <a:ext cx="6394699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en-US" altLang="zh-CN" sz="1800" b="1" baseline="30000" dirty="0">
                <a:solidFill>
                  <a:srgbClr val="C00000"/>
                </a:solidFill>
              </a:rPr>
              <a:t>st</a:t>
            </a:r>
            <a:r>
              <a:rPr lang="en-US" altLang="zh-CN" sz="1800" b="1" dirty="0">
                <a:solidFill>
                  <a:srgbClr val="C00000"/>
                </a:solidFill>
              </a:rPr>
              <a:t> level: multiple groups with varying sparsity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en-US" altLang="zh-CN" sz="1800" b="1" baseline="30000" dirty="0">
                <a:solidFill>
                  <a:srgbClr val="C00000"/>
                </a:solidFill>
              </a:rPr>
              <a:t>nd</a:t>
            </a:r>
            <a:r>
              <a:rPr lang="en-US" altLang="zh-CN" sz="1800" b="1" dirty="0">
                <a:solidFill>
                  <a:srgbClr val="C00000"/>
                </a:solidFill>
              </a:rPr>
              <a:t> level: each tile in a group with consistent pattern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83" name="下箭头 10">
            <a:extLst>
              <a:ext uri="{FF2B5EF4-FFF2-40B4-BE49-F238E27FC236}">
                <a16:creationId xmlns:a16="http://schemas.microsoft.com/office/drawing/2014/main" id="{7E6EB012-6C6E-F3C5-9B7D-503783B422F0}"/>
              </a:ext>
            </a:extLst>
          </p:cNvPr>
          <p:cNvSpPr/>
          <p:nvPr/>
        </p:nvSpPr>
        <p:spPr>
          <a:xfrm rot="16200000">
            <a:off x="3944497" y="4802341"/>
            <a:ext cx="182668" cy="247949"/>
          </a:xfrm>
          <a:prstGeom prst="downArrow">
            <a:avLst/>
          </a:prstGeom>
          <a:solidFill>
            <a:srgbClr val="133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下箭头 10">
            <a:extLst>
              <a:ext uri="{FF2B5EF4-FFF2-40B4-BE49-F238E27FC236}">
                <a16:creationId xmlns:a16="http://schemas.microsoft.com/office/drawing/2014/main" id="{4EB1DDA3-3588-2D95-18AF-88CB2CFB59C8}"/>
              </a:ext>
            </a:extLst>
          </p:cNvPr>
          <p:cNvSpPr/>
          <p:nvPr/>
        </p:nvSpPr>
        <p:spPr>
          <a:xfrm rot="16200000">
            <a:off x="8070799" y="4799376"/>
            <a:ext cx="182668" cy="247949"/>
          </a:xfrm>
          <a:prstGeom prst="downArrow">
            <a:avLst/>
          </a:prstGeom>
          <a:solidFill>
            <a:srgbClr val="133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5BAED76-45F2-F718-8CC9-4FD33F28E17D}"/>
              </a:ext>
            </a:extLst>
          </p:cNvPr>
          <p:cNvSpPr/>
          <p:nvPr/>
        </p:nvSpPr>
        <p:spPr>
          <a:xfrm>
            <a:off x="358089" y="6028758"/>
            <a:ext cx="2015231" cy="55929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664393D-1563-5E9D-8E1C-F73874B098E0}"/>
              </a:ext>
            </a:extLst>
          </p:cNvPr>
          <p:cNvSpPr/>
          <p:nvPr/>
        </p:nvSpPr>
        <p:spPr>
          <a:xfrm>
            <a:off x="358089" y="6028758"/>
            <a:ext cx="536433" cy="203632"/>
          </a:xfrm>
          <a:prstGeom prst="rect">
            <a:avLst/>
          </a:prstGeom>
          <a:solidFill>
            <a:srgbClr val="009EDE"/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062AEFFF-BE9C-0B18-8419-69B373B01ABA}"/>
              </a:ext>
            </a:extLst>
          </p:cNvPr>
          <p:cNvCxnSpPr>
            <a:cxnSpLocks/>
            <a:stCxn id="87" idx="1"/>
          </p:cNvCxnSpPr>
          <p:nvPr/>
        </p:nvCxnSpPr>
        <p:spPr>
          <a:xfrm flipH="1" flipV="1">
            <a:off x="103148" y="5401810"/>
            <a:ext cx="254941" cy="7287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C78614F3-84DB-045B-FAA0-A139ADF13947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894522" y="5401810"/>
            <a:ext cx="2926080" cy="7287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图片 89">
            <a:extLst>
              <a:ext uri="{FF2B5EF4-FFF2-40B4-BE49-F238E27FC236}">
                <a16:creationId xmlns:a16="http://schemas.microsoft.com/office/drawing/2014/main" id="{577C6DEC-7BEB-2B0E-07AE-D17353A64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88" y="4388350"/>
            <a:ext cx="3832860" cy="101346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B168FF08-7C1F-8CD6-0EDF-94C0E8562A8F}"/>
              </a:ext>
            </a:extLst>
          </p:cNvPr>
          <p:cNvSpPr/>
          <p:nvPr/>
        </p:nvSpPr>
        <p:spPr>
          <a:xfrm>
            <a:off x="8419013" y="4510677"/>
            <a:ext cx="363985" cy="3213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4AF8ED3-A169-F49A-7DA3-48D9BA678F22}"/>
              </a:ext>
            </a:extLst>
          </p:cNvPr>
          <p:cNvSpPr/>
          <p:nvPr/>
        </p:nvSpPr>
        <p:spPr>
          <a:xfrm>
            <a:off x="11665133" y="4510676"/>
            <a:ext cx="363985" cy="3213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0E98B51-69DD-97A4-AE8D-EE95B2628338}"/>
              </a:ext>
            </a:extLst>
          </p:cNvPr>
          <p:cNvSpPr/>
          <p:nvPr/>
        </p:nvSpPr>
        <p:spPr>
          <a:xfrm>
            <a:off x="11665133" y="4954341"/>
            <a:ext cx="363985" cy="3213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4CBC57A-EF59-1DB8-E2D5-149CCC40C635}"/>
              </a:ext>
            </a:extLst>
          </p:cNvPr>
          <p:cNvSpPr txBox="1"/>
          <p:nvPr/>
        </p:nvSpPr>
        <p:spPr>
          <a:xfrm>
            <a:off x="136791" y="2965985"/>
            <a:ext cx="4899926" cy="4001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Unstructured Sparsity</a:t>
            </a:r>
            <a:endParaRPr lang="zh-CN" altLang="en-US" sz="2000" b="1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E1C42E8-4695-FB44-1FEF-928D6602A702}"/>
              </a:ext>
            </a:extLst>
          </p:cNvPr>
          <p:cNvSpPr txBox="1"/>
          <p:nvPr/>
        </p:nvSpPr>
        <p:spPr>
          <a:xfrm>
            <a:off x="5324943" y="2964062"/>
            <a:ext cx="6503870" cy="4001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</a:rPr>
              <a:t>Two-Level Sparsity: Flexible and Hardware-Friendly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FB9E30F-6F3B-98E5-AF97-EDD6CB12A2FD}"/>
              </a:ext>
            </a:extLst>
          </p:cNvPr>
          <p:cNvSpPr txBox="1"/>
          <p:nvPr/>
        </p:nvSpPr>
        <p:spPr>
          <a:xfrm>
            <a:off x="3583673" y="5454441"/>
            <a:ext cx="7856519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/>
              <a:t>TGSA only changes the method of generating mask and almost has no impact on sparsity and model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/>
              <a:t>TGSA only saves non-zero values and their position index.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8325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BCF40AE-D425-4269-766C-69DF8EF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D68DBDE-D545-FD5C-38F6-BDC2836D5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9315008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Efficient Sparse Accelerator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824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52687A7-9B9E-E7A3-744B-4D7AD3F0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4318F3FE-4212-904F-43ED-17219423E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Overview of Architecture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A2D229-48BC-9122-751D-BD9135DC5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7" y="1334891"/>
            <a:ext cx="6072232" cy="531670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FE70461-3743-52B9-D234-C714FCEBEA81}"/>
              </a:ext>
            </a:extLst>
          </p:cNvPr>
          <p:cNvSpPr txBox="1"/>
          <p:nvPr/>
        </p:nvSpPr>
        <p:spPr>
          <a:xfrm>
            <a:off x="6855826" y="2128916"/>
            <a:ext cx="5336174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DSMA (dynamic sparsity-aware matrix processing array): </a:t>
            </a:r>
            <a:r>
              <a:rPr lang="en-US" altLang="zh-CN" sz="2000" b="1" dirty="0">
                <a:solidFill>
                  <a:schemeClr val="tx1"/>
                </a:solidFill>
              </a:rPr>
              <a:t>64*4 PE + MDU (mask </a:t>
            </a:r>
            <a:r>
              <a:rPr lang="en-US" altLang="zh-CN" sz="2000" b="1" dirty="0" err="1">
                <a:solidFill>
                  <a:schemeClr val="tx1"/>
                </a:solidFill>
              </a:rPr>
              <a:t>decodeing</a:t>
            </a:r>
            <a:r>
              <a:rPr lang="en-US" altLang="zh-CN" sz="2000" b="1" dirty="0">
                <a:solidFill>
                  <a:schemeClr val="tx1"/>
                </a:solidFill>
              </a:rPr>
              <a:t> unit) </a:t>
            </a:r>
            <a:r>
              <a:rPr lang="en-US" altLang="zh-CN" sz="2000" b="1" dirty="0"/>
              <a:t>support both dense and sparse matrix multiplication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GVA (graph-based vector processing array): </a:t>
            </a:r>
            <a:r>
              <a:rPr lang="en-US" altLang="zh-CN" sz="2000" b="1" dirty="0" err="1">
                <a:solidFill>
                  <a:schemeClr val="tx1"/>
                </a:solidFill>
              </a:rPr>
              <a:t>VEArray</a:t>
            </a:r>
            <a:r>
              <a:rPr lang="en-US" altLang="zh-CN" sz="2000" b="1" dirty="0">
                <a:solidFill>
                  <a:schemeClr val="tx1"/>
                </a:solidFill>
              </a:rPr>
              <a:t> (element) + </a:t>
            </a:r>
            <a:r>
              <a:rPr lang="en-US" altLang="zh-CN" sz="2000" b="1" dirty="0" err="1">
                <a:solidFill>
                  <a:schemeClr val="tx1"/>
                </a:solidFill>
              </a:rPr>
              <a:t>VArray</a:t>
            </a:r>
            <a:r>
              <a:rPr lang="en-US" altLang="zh-CN" sz="2000" b="1" dirty="0">
                <a:solidFill>
                  <a:schemeClr val="tx1"/>
                </a:solidFill>
              </a:rPr>
              <a:t> (vector) for </a:t>
            </a:r>
            <a:r>
              <a:rPr lang="en-US" altLang="zh-CN" sz="2000" b="1" dirty="0"/>
              <a:t>NMOs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SRAM:  112KB</a:t>
            </a:r>
          </a:p>
        </p:txBody>
      </p:sp>
    </p:spTree>
    <p:extLst>
      <p:ext uri="{BB962C8B-B14F-4D97-AF65-F5344CB8AC3E}">
        <p14:creationId xmlns:p14="http://schemas.microsoft.com/office/powerpoint/2010/main" val="229312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448E04E3-417A-47F2-8F21-97E45E28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A401A1C-FA25-9F5D-B7B5-D8558F9D1B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Dynamic Sparsity-Aware Matrix Processing Array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F19096-6B81-449C-C0AC-6AF818404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82"/>
          <a:stretch>
            <a:fillRect/>
          </a:stretch>
        </p:blipFill>
        <p:spPr>
          <a:xfrm>
            <a:off x="5888882" y="4068479"/>
            <a:ext cx="6161113" cy="24705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CF02B9-AF44-5884-D40F-DA7A7CAC9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05" y="1564701"/>
            <a:ext cx="5515421" cy="2308572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D7C0782-7E5D-498B-53DF-7E54CC645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030213"/>
              </p:ext>
            </p:extLst>
          </p:nvPr>
        </p:nvGraphicFramePr>
        <p:xfrm>
          <a:off x="6048947" y="1687747"/>
          <a:ext cx="5840982" cy="2062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83348">
                  <a:extLst>
                    <a:ext uri="{9D8B030D-6E8A-4147-A177-3AD203B41FA5}">
                      <a16:colId xmlns:a16="http://schemas.microsoft.com/office/drawing/2014/main" val="1112203528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4518517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77041785"/>
                    </a:ext>
                  </a:extLst>
                </a:gridCol>
                <a:gridCol w="1173803">
                  <a:extLst>
                    <a:ext uri="{9D8B030D-6E8A-4147-A177-3AD203B41FA5}">
                      <a16:colId xmlns:a16="http://schemas.microsoft.com/office/drawing/2014/main" val="200210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Num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of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non-zero value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Num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of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multipliers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Layer of adder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cycle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60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Skipping</a:t>
                      </a:r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698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145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7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 (dense)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62793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F0FB749-9C34-B520-B9CF-906DAB33B4E5}"/>
              </a:ext>
            </a:extLst>
          </p:cNvPr>
          <p:cNvSpPr txBox="1"/>
          <p:nvPr/>
        </p:nvSpPr>
        <p:spPr>
          <a:xfrm>
            <a:off x="321252" y="4068479"/>
            <a:ext cx="5336174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Configurable PE design</a:t>
            </a:r>
            <a:r>
              <a:rPr lang="en-US" altLang="zh-CN" sz="2000" b="1" dirty="0">
                <a:solidFill>
                  <a:schemeClr val="tx1"/>
                </a:solidFill>
              </a:rPr>
              <a:t> to support both two-level sparse and dense matrix multiplication with</a:t>
            </a:r>
            <a:r>
              <a:rPr lang="en-US" altLang="zh-CN" sz="2000" b="1" dirty="0">
                <a:solidFill>
                  <a:srgbClr val="C00000"/>
                </a:solidFill>
              </a:rPr>
              <a:t> dynamically allocated multipliers and forwarding paths in the adder tree</a:t>
            </a:r>
            <a:r>
              <a:rPr lang="en-US" altLang="zh-CN" sz="20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938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E471F84F-3040-CF28-B140-3458606B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4A0D67FE-7F48-2BAB-3341-F58CF8655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6197" y="199230"/>
            <a:ext cx="1056994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Graph-Based Vector Processing Array</a:t>
            </a:r>
            <a:endParaRPr dirty="0">
              <a:solidFill>
                <a:srgbClr val="982668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3120BE-FE82-B611-2B99-B2B0BFB11AB2}"/>
              </a:ext>
            </a:extLst>
          </p:cNvPr>
          <p:cNvSpPr txBox="1"/>
          <p:nvPr/>
        </p:nvSpPr>
        <p:spPr>
          <a:xfrm>
            <a:off x="7124772" y="5108543"/>
            <a:ext cx="5336174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GVP organize function units into a dataflow graph with a configurable interconnection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AEE802-1D85-7C34-84B3-687923F3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13" y="1826969"/>
            <a:ext cx="3271186" cy="21990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52D8AA-2904-706E-1628-0FF0EFFAD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918" y="1826969"/>
            <a:ext cx="3065970" cy="216745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612BE31-0726-243B-ED35-9D3BFEFFECBC}"/>
              </a:ext>
            </a:extLst>
          </p:cNvPr>
          <p:cNvSpPr txBox="1"/>
          <p:nvPr/>
        </p:nvSpPr>
        <p:spPr>
          <a:xfrm>
            <a:off x="2451093" y="2113745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LayerNorm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1079FC-7B2E-4CED-ED5F-D42C05B1AC71}"/>
              </a:ext>
            </a:extLst>
          </p:cNvPr>
          <p:cNvSpPr txBox="1"/>
          <p:nvPr/>
        </p:nvSpPr>
        <p:spPr>
          <a:xfrm>
            <a:off x="5916904" y="3420558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Softmax</a:t>
            </a:r>
            <a:endParaRPr lang="zh-CN" altLang="en-US" b="1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0CB399F-B48C-B59F-8E40-D96181E98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42321"/>
              </p:ext>
            </p:extLst>
          </p:nvPr>
        </p:nvGraphicFramePr>
        <p:xfrm>
          <a:off x="7479606" y="1574850"/>
          <a:ext cx="3998250" cy="325624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02846">
                  <a:extLst>
                    <a:ext uri="{9D8B030D-6E8A-4147-A177-3AD203B41FA5}">
                      <a16:colId xmlns:a16="http://schemas.microsoft.com/office/drawing/2014/main" val="4057280434"/>
                    </a:ext>
                  </a:extLst>
                </a:gridCol>
                <a:gridCol w="1093328">
                  <a:extLst>
                    <a:ext uri="{9D8B030D-6E8A-4147-A177-3AD203B41FA5}">
                      <a16:colId xmlns:a16="http://schemas.microsoft.com/office/drawing/2014/main" val="812699823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183127551"/>
                    </a:ext>
                  </a:extLst>
                </a:gridCol>
              </a:tblGrid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Vector Units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Number 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Delay 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614627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SumShift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926342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Max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142893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Min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557062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AddSub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244281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Sub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057352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516574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Div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248842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Mul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517558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FP2INT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308366"/>
                  </a:ext>
                </a:extLst>
              </a:tr>
              <a:tr h="296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Exp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729655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AB2081C-D280-A2F2-66DD-9086067B0035}"/>
              </a:ext>
            </a:extLst>
          </p:cNvPr>
          <p:cNvSpPr txBox="1"/>
          <p:nvPr/>
        </p:nvSpPr>
        <p:spPr>
          <a:xfrm>
            <a:off x="395713" y="4281204"/>
            <a:ext cx="6586112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Decompose all involved NMOs into several basic vector floating-point operations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These basic units can be shared when processing different NMOs</a:t>
            </a:r>
          </a:p>
        </p:txBody>
      </p:sp>
    </p:spTree>
    <p:extLst>
      <p:ext uri="{BB962C8B-B14F-4D97-AF65-F5344CB8AC3E}">
        <p14:creationId xmlns:p14="http://schemas.microsoft.com/office/powerpoint/2010/main" val="49827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6032355-38B9-47F8-CFB4-C81627ED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C79ABEB-77C8-E515-CB12-19F3E62671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6197" y="199230"/>
            <a:ext cx="1056994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Graph-Based Vector Processing Array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8C99AA-1667-C5AC-7A09-1B4B7CE53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0" y="1524793"/>
            <a:ext cx="5810183" cy="520521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B2DC7F-45A3-CD86-6C6A-74D99FEAF25D}"/>
              </a:ext>
            </a:extLst>
          </p:cNvPr>
          <p:cNvSpPr txBox="1"/>
          <p:nvPr/>
        </p:nvSpPr>
        <p:spPr>
          <a:xfrm>
            <a:off x="6581929" y="2624689"/>
            <a:ext cx="5489341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Graph-based ALU (GALU) achieves </a:t>
            </a:r>
            <a:r>
              <a:rPr lang="en-US" altLang="zh-CN" sz="2000" b="1" dirty="0">
                <a:solidFill>
                  <a:srgbClr val="C00000"/>
                </a:solidFill>
              </a:rPr>
              <a:t>higher throughput </a:t>
            </a:r>
            <a:r>
              <a:rPr lang="en-US" altLang="zh-CN" sz="2000" b="1" dirty="0">
                <a:solidFill>
                  <a:schemeClr val="tx1"/>
                </a:solidFill>
              </a:rPr>
              <a:t>than traditional ALU.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Compared to special function unit designed for certain operators, GVA excels in </a:t>
            </a:r>
            <a:r>
              <a:rPr lang="en-US" altLang="zh-CN" sz="2000" b="1" dirty="0">
                <a:solidFill>
                  <a:srgbClr val="C00000"/>
                </a:solidFill>
              </a:rPr>
              <a:t>higher flexibility and lower area</a:t>
            </a:r>
            <a:r>
              <a:rPr lang="en-US" altLang="zh-CN" sz="20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492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9B86DA0-DAD7-409E-FDBA-21441FA1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D1E246A9-0E0C-AC13-206D-3D7DC6673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9315008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Evaluation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9009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2D93871-788A-7644-6AA9-2EFDEDED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A02A047-E204-A87E-54B7-C198F70B8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75405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Evaluation on Proposed Algorithm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73DF3A-B179-AC19-7620-CC9A8E9FCE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21" b="15462"/>
          <a:stretch>
            <a:fillRect/>
          </a:stretch>
        </p:blipFill>
        <p:spPr>
          <a:xfrm>
            <a:off x="2225090" y="1239456"/>
            <a:ext cx="7623760" cy="46245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9008856-1411-4771-BBD1-EA8D41548944}"/>
              </a:ext>
            </a:extLst>
          </p:cNvPr>
          <p:cNvSpPr txBox="1"/>
          <p:nvPr/>
        </p:nvSpPr>
        <p:spPr>
          <a:xfrm>
            <a:off x="1283736" y="5788705"/>
            <a:ext cx="10009538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</a:rPr>
              <a:t>Compared to coarse-grained cache acceleration, FDC increases average score by </a:t>
            </a:r>
            <a:r>
              <a:rPr lang="en-US" altLang="zh-CN" sz="2000" b="1" dirty="0">
                <a:solidFill>
                  <a:srgbClr val="C00000"/>
                </a:solidFill>
              </a:rPr>
              <a:t>66.8% in DP and 2.3% in RDT </a:t>
            </a:r>
            <a:r>
              <a:rPr lang="en-US" altLang="zh-CN" sz="2000" b="1" dirty="0">
                <a:solidFill>
                  <a:schemeClr val="tx1"/>
                </a:solidFill>
              </a:rPr>
              <a:t>with comparable FLOPS reduction.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A43C2A-9665-89C1-BD9A-3A27B1E43EAC}"/>
              </a:ext>
            </a:extLst>
          </p:cNvPr>
          <p:cNvSpPr/>
          <p:nvPr/>
        </p:nvSpPr>
        <p:spPr>
          <a:xfrm>
            <a:off x="5953981" y="3763338"/>
            <a:ext cx="678095" cy="256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547169-FCF3-2C30-180D-D63BE455C089}"/>
              </a:ext>
            </a:extLst>
          </p:cNvPr>
          <p:cNvSpPr/>
          <p:nvPr/>
        </p:nvSpPr>
        <p:spPr>
          <a:xfrm>
            <a:off x="7886012" y="3763338"/>
            <a:ext cx="678095" cy="256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6A1DAF-BAC4-076B-94D9-1F936B76D2F5}"/>
              </a:ext>
            </a:extLst>
          </p:cNvPr>
          <p:cNvSpPr/>
          <p:nvPr/>
        </p:nvSpPr>
        <p:spPr>
          <a:xfrm>
            <a:off x="5953981" y="5416056"/>
            <a:ext cx="678095" cy="256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E25AD1-ADAF-6406-E94A-ED19A4F337AB}"/>
              </a:ext>
            </a:extLst>
          </p:cNvPr>
          <p:cNvSpPr/>
          <p:nvPr/>
        </p:nvSpPr>
        <p:spPr>
          <a:xfrm>
            <a:off x="7886011" y="5416056"/>
            <a:ext cx="678095" cy="256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439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2FB126E-EB4B-C34F-03A7-3038E53B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CF39BDB-68C7-1400-A159-432047C00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Evaluation on Proposed Accelerator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1BBE31-3B67-D786-7C6A-C2B5547E70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7"/>
          <a:stretch>
            <a:fillRect/>
          </a:stretch>
        </p:blipFill>
        <p:spPr>
          <a:xfrm>
            <a:off x="514968" y="1524793"/>
            <a:ext cx="11162063" cy="504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7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795DF08-7DB2-300E-6730-E77C4078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454FE887-C1A2-5D7A-65CA-19D5AC884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9275" y="199230"/>
            <a:ext cx="10009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solidFill>
                  <a:srgbClr val="982668"/>
                </a:solidFill>
              </a:rPr>
              <a:t>Evaluation on Proposed Accelerator</a:t>
            </a:r>
            <a:endParaRPr dirty="0">
              <a:solidFill>
                <a:srgbClr val="982668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4BFF91-61DC-B627-9D19-05F6B3CB4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87" y="1638300"/>
            <a:ext cx="5967654" cy="47412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4778D1A-6E4C-8717-C89D-A7EEFC707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594" y="1309643"/>
            <a:ext cx="5168219" cy="34099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9086C4-B671-1810-7F82-07E18CBFC94A}"/>
              </a:ext>
            </a:extLst>
          </p:cNvPr>
          <p:cNvSpPr txBox="1"/>
          <p:nvPr/>
        </p:nvSpPr>
        <p:spPr>
          <a:xfrm>
            <a:off x="6624214" y="4838194"/>
            <a:ext cx="5397299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</a:rPr>
              <a:t>Compared to SOTA diffusion accelerators, </a:t>
            </a:r>
            <a:r>
              <a:rPr lang="en-US" altLang="zh-CN" sz="2000" b="1" dirty="0" err="1">
                <a:solidFill>
                  <a:schemeClr val="tx1"/>
                </a:solidFill>
              </a:rPr>
              <a:t>SpRDA</a:t>
            </a:r>
            <a:r>
              <a:rPr lang="en-US" altLang="zh-CN" sz="2000" b="1" dirty="0">
                <a:solidFill>
                  <a:schemeClr val="tx1"/>
                </a:solidFill>
              </a:rPr>
              <a:t> achieves </a:t>
            </a:r>
            <a:r>
              <a:rPr lang="en-US" altLang="zh-CN" sz="2000" b="1" dirty="0">
                <a:solidFill>
                  <a:srgbClr val="C00000"/>
                </a:solidFill>
              </a:rPr>
              <a:t>1.56-2.60× speedup</a:t>
            </a:r>
            <a:r>
              <a:rPr lang="en-US" altLang="zh-CN" sz="2000" b="1" dirty="0">
                <a:solidFill>
                  <a:schemeClr val="tx1"/>
                </a:solidFill>
              </a:rPr>
              <a:t> and </a:t>
            </a:r>
            <a:r>
              <a:rPr lang="en-US" altLang="zh-CN" sz="2000" b="1" dirty="0">
                <a:solidFill>
                  <a:srgbClr val="C00000"/>
                </a:solidFill>
              </a:rPr>
              <a:t>6.45-7.85× energy efficiency improvement</a:t>
            </a:r>
            <a:r>
              <a:rPr lang="en-US" altLang="zh-CN" sz="20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300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1D02C06-0CAC-52BC-C8DC-E74862E2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0F4AFE72-F4EB-8F03-66FF-B32F56AFEBF7}"/>
              </a:ext>
            </a:extLst>
          </p:cNvPr>
          <p:cNvSpPr/>
          <p:nvPr/>
        </p:nvSpPr>
        <p:spPr>
          <a:xfrm>
            <a:off x="987831" y="2028825"/>
            <a:ext cx="4803369" cy="4023207"/>
          </a:xfrm>
          <a:prstGeom prst="hexagon">
            <a:avLst>
              <a:gd name="adj" fmla="val 24356"/>
              <a:gd name="vf" fmla="val 11547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B06605-28D8-0D7B-67CE-D8A9DF97BF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31758" y="2719125"/>
            <a:ext cx="4376803" cy="866775"/>
          </a:xfrm>
        </p:spPr>
        <p:txBody>
          <a:bodyPr>
            <a:noAutofit/>
          </a:bodyPr>
          <a:lstStyle/>
          <a:p>
            <a:r>
              <a:rPr lang="en-US" altLang="zh-CN" sz="6000" b="1" dirty="0"/>
              <a:t>Thanks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61830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BD7E7"/>
      </a:accent1>
      <a:accent2>
        <a:srgbClr val="E97132"/>
      </a:accent2>
      <a:accent3>
        <a:srgbClr val="C1D830"/>
      </a:accent3>
      <a:accent4>
        <a:srgbClr val="492354"/>
      </a:accent4>
      <a:accent5>
        <a:srgbClr val="1A2051"/>
      </a:accent5>
      <a:accent6>
        <a:srgbClr val="4EA72E"/>
      </a:accent6>
      <a:hlink>
        <a:srgbClr val="F37837"/>
      </a:hlink>
      <a:folHlink>
        <a:srgbClr val="A93A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970</Words>
  <Application>Microsoft Office PowerPoint</Application>
  <PresentationFormat>宽屏</PresentationFormat>
  <Paragraphs>160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SpRDA: An Efficient Sparse Accelerator for Robotics Diffusion Model</vt:lpstr>
      <vt:lpstr>Introduction and Challenges</vt:lpstr>
      <vt:lpstr>Embodied Artificial Intelligence: Bridging AI with the Physical World</vt:lpstr>
      <vt:lpstr>Robotics Diffusion Models</vt:lpstr>
      <vt:lpstr>Efficient Diffusion Models</vt:lpstr>
      <vt:lpstr>Challenge 1： High Similarity to High Sparsity</vt:lpstr>
      <vt:lpstr>Challenge 2: High Sparsity to High Efficiency</vt:lpstr>
      <vt:lpstr>Challenge 3: High Overhead of NMOs</vt:lpstr>
      <vt:lpstr>Contributions:   Algorithm-Architecture Co-Design</vt:lpstr>
      <vt:lpstr>Sparsification Strategy for Robotics Diffusion Models</vt:lpstr>
      <vt:lpstr>Motivation</vt:lpstr>
      <vt:lpstr>Fine-Grained and Difference-Aware Cache</vt:lpstr>
      <vt:lpstr>Two-Level Group Sparsity Adjusting</vt:lpstr>
      <vt:lpstr>Efficient Sparse Accelerator</vt:lpstr>
      <vt:lpstr>Overview of Architecture</vt:lpstr>
      <vt:lpstr>Dynamic Sparsity-Aware Matrix Processing Array</vt:lpstr>
      <vt:lpstr>Graph-Based Vector Processing Array</vt:lpstr>
      <vt:lpstr>Graph-Based Vector Processing Array</vt:lpstr>
      <vt:lpstr>Evaluation</vt:lpstr>
      <vt:lpstr>Evaluation on Proposed Algorithm</vt:lpstr>
      <vt:lpstr>Evaluation on Proposed Accelerator</vt:lpstr>
      <vt:lpstr>Evaluation on Proposed Accelerator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 Rossell</dc:creator>
  <cp:lastModifiedBy>韧达 简</cp:lastModifiedBy>
  <cp:revision>24</cp:revision>
  <dcterms:created xsi:type="dcterms:W3CDTF">2024-09-11T13:48:27Z</dcterms:created>
  <dcterms:modified xsi:type="dcterms:W3CDTF">2026-04-29T05:22:15Z</dcterms:modified>
</cp:coreProperties>
</file>