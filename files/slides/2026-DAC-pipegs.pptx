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5" r:id="rId5"/>
    <p:sldId id="260" r:id="rId6"/>
    <p:sldId id="266" r:id="rId7"/>
    <p:sldId id="267" r:id="rId8"/>
    <p:sldId id="268" r:id="rId9"/>
    <p:sldId id="269" r:id="rId10"/>
    <p:sldId id="270" r:id="rId11"/>
    <p:sldId id="26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sE9G6uR8KrU/AF2fTgae8awS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2668"/>
    <a:srgbClr val="F3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597"/>
  </p:normalViewPr>
  <p:slideViewPr>
    <p:cSldViewPr snapToGrid="0">
      <p:cViewPr>
        <p:scale>
          <a:sx n="81" d="100"/>
          <a:sy n="81" d="100"/>
        </p:scale>
        <p:origin x="176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826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133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90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01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360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5615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blue background with white text&#10;&#10;AI-generated content may be incorrect.">
            <a:extLst>
              <a:ext uri="{FF2B5EF4-FFF2-40B4-BE49-F238E27FC236}">
                <a16:creationId xmlns:a16="http://schemas.microsoft.com/office/drawing/2014/main" id="{635854C4-1B79-143B-867C-798EE630C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1524000" y="175347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524000" y="423314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 with white text&#10;&#10;AI-generated content may be incorrect.">
            <a:extLst>
              <a:ext uri="{FF2B5EF4-FFF2-40B4-BE49-F238E27FC236}">
                <a16:creationId xmlns:a16="http://schemas.microsoft.com/office/drawing/2014/main" id="{661E4BD8-1B4F-1C88-5AC5-FDE6B1E8C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431158" y="3004442"/>
            <a:ext cx="5866901" cy="23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1828801" y="136525"/>
            <a:ext cx="100000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1924050" y="208755"/>
            <a:ext cx="98727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98266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Speaker" userDrawn="1">
  <p:cSld name="SingleSpeak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hexagon on a purple and green background&#10;&#10;AI-generated content may be incorrect.">
            <a:extLst>
              <a:ext uri="{FF2B5EF4-FFF2-40B4-BE49-F238E27FC236}">
                <a16:creationId xmlns:a16="http://schemas.microsoft.com/office/drawing/2014/main" id="{A22A99B9-81C4-5E86-082B-1E0123024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6888971" y="1741470"/>
            <a:ext cx="437680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1"/>
          </p:nvPr>
        </p:nvSpPr>
        <p:spPr>
          <a:xfrm>
            <a:off x="6888971" y="3341670"/>
            <a:ext cx="4376803" cy="76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bg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3"/>
          </p:nvPr>
        </p:nvSpPr>
        <p:spPr>
          <a:xfrm>
            <a:off x="6888971" y="4176450"/>
            <a:ext cx="437680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bg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1838325" y="136525"/>
            <a:ext cx="9990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hexagons&#10;&#10;AI-generated content may be incorrect.">
            <a:extLst>
              <a:ext uri="{FF2B5EF4-FFF2-40B4-BE49-F238E27FC236}">
                <a16:creationId xmlns:a16="http://schemas.microsoft.com/office/drawing/2014/main" id="{5BB223B4-E416-EDCB-C3F5-17942C88963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1857374" y="1825625"/>
            <a:ext cx="94964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1857374" y="365125"/>
            <a:ext cx="94964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982668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364239" y="2076230"/>
            <a:ext cx="982304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" altLang="zh-CN" b="0" i="0" u="none" strike="noStrike">
                <a:solidFill>
                  <a:schemeClr val="bg1"/>
                </a:solidFill>
                <a:effectLst/>
                <a:latin typeface="-webkit-standard"/>
              </a:rPr>
              <a:t>PipeGS: Unlocking 3DGS Pipeline Parallelism via Hierarchical Reuse and Dynamic Partitioning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8A1A4E-117E-6442-9630-D8A894BC3989}"/>
              </a:ext>
            </a:extLst>
          </p:cNvPr>
          <p:cNvSpPr txBox="1"/>
          <p:nvPr/>
        </p:nvSpPr>
        <p:spPr>
          <a:xfrm>
            <a:off x="2976623" y="4463830"/>
            <a:ext cx="659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sz="1800" b="0" i="0" u="none" strike="noStrike">
                <a:solidFill>
                  <a:schemeClr val="bg1"/>
                </a:solidFill>
                <a:effectLst/>
                <a:latin typeface="-webkit-standard"/>
              </a:rPr>
              <a:t>Algorithm-Architecture Co-Design for Efficient 3D Gaussian Splatting</a:t>
            </a:r>
            <a:endParaRPr kumimoji="1" lang="zh-CN" altLang="en-US" sz="180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A8CA97-E209-EB4B-8C02-8B5E1649C5CF}"/>
              </a:ext>
            </a:extLst>
          </p:cNvPr>
          <p:cNvSpPr txBox="1"/>
          <p:nvPr/>
        </p:nvSpPr>
        <p:spPr>
          <a:xfrm>
            <a:off x="3466344" y="5099380"/>
            <a:ext cx="56188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>
                <a:solidFill>
                  <a:schemeClr val="bg1"/>
                </a:solidFill>
              </a:rPr>
              <a:t>Speaker: Xueling Wang</a:t>
            </a:r>
          </a:p>
          <a:p>
            <a:pPr algn="ctr"/>
            <a:r>
              <a:rPr lang="en" altLang="zh-CN">
                <a:solidFill>
                  <a:schemeClr val="bg1"/>
                </a:solidFill>
              </a:rPr>
              <a:t>Collaborators: Shanghai Jiao Tong University  &amp; Tsinghua University</a:t>
            </a:r>
          </a:p>
          <a:p>
            <a:pPr algn="ctr"/>
            <a:r>
              <a:rPr lang="en" altLang="zh-CN">
                <a:solidFill>
                  <a:schemeClr val="bg1"/>
                </a:solidFill>
              </a:rPr>
              <a:t>Event: DAC '26, Long Beach, 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305030" y="3174380"/>
            <a:ext cx="12181258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 sz="4000"/>
              <a:t>Motivation: The Pipeline Efficiency Gap in 3DGS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3">
            <a:extLst>
              <a:ext uri="{FF2B5EF4-FFF2-40B4-BE49-F238E27FC236}">
                <a16:creationId xmlns:a16="http://schemas.microsoft.com/office/drawing/2014/main" id="{A301C36E-114C-1E4B-8CF4-186B8779C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5291" y="257056"/>
            <a:ext cx="9678785" cy="71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altLang="zh-CN">
                <a:solidFill>
                  <a:srgbClr val="982668"/>
                </a:solidFill>
              </a:rPr>
              <a:t>Analysis of 3DGS Pipeline Bottlenecks</a:t>
            </a:r>
            <a:endParaRPr lang="en-US" dirty="0">
              <a:solidFill>
                <a:srgbClr val="982668"/>
              </a:solidFill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0AB0EB0-682F-AC45-BED5-3AE3DE05D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4930" y="1247223"/>
            <a:ext cx="10670175" cy="1426847"/>
          </a:xfrm>
        </p:spPr>
        <p:txBody>
          <a:bodyPr>
            <a:normAutofit/>
          </a:bodyPr>
          <a:lstStyle/>
          <a:p>
            <a:r>
              <a:rPr lang="en" altLang="zh-CN" sz="1800" b="1"/>
              <a:t>Workflow</a:t>
            </a:r>
            <a:r>
              <a:rPr lang="en" altLang="zh-CN" sz="1800"/>
              <a:t>: Preprocessing, Sorting, and Rasterization.</a:t>
            </a:r>
          </a:p>
          <a:p>
            <a:r>
              <a:rPr lang="en" altLang="zh-CN" sz="1800" b="1"/>
              <a:t>Challenge I</a:t>
            </a:r>
            <a:r>
              <a:rPr lang="en" altLang="zh-CN" sz="1800"/>
              <a:t>: Insufficient overlap due to the latency gap </a:t>
            </a:r>
            <a:r>
              <a:rPr lang="en" altLang="zh-CN" sz="1800" b="1"/>
              <a:t>between sorting and rasterization.</a:t>
            </a:r>
          </a:p>
          <a:p>
            <a:r>
              <a:rPr lang="en" altLang="zh-CN" sz="1800" b="1"/>
              <a:t>Challenge II</a:t>
            </a:r>
            <a:r>
              <a:rPr lang="en" altLang="zh-CN" sz="1800"/>
              <a:t>: Pipeline parallelism is constrained by </a:t>
            </a:r>
            <a:r>
              <a:rPr lang="en" altLang="zh-CN" sz="1800" b="1"/>
              <a:t>globally serialized preprocessing.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26EB0D0-CDA6-514E-AE77-C090BB90F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37" y="2908540"/>
            <a:ext cx="4555698" cy="36924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1CEADB-1682-0848-84FF-4E786BCD9D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90"/>
          <a:stretch/>
        </p:blipFill>
        <p:spPr>
          <a:xfrm>
            <a:off x="5401629" y="2908540"/>
            <a:ext cx="6324600" cy="158597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6BE5FDE-33A3-8D45-A463-13339696DD14}"/>
              </a:ext>
            </a:extLst>
          </p:cNvPr>
          <p:cNvSpPr txBox="1"/>
          <p:nvPr/>
        </p:nvSpPr>
        <p:spPr>
          <a:xfrm>
            <a:off x="7261669" y="4400058"/>
            <a:ext cx="32539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>
                <a:effectLst/>
                <a:latin typeface="Arial" panose="020B0604020202020204" pitchFamily="34" charset="0"/>
              </a:rPr>
              <a:t>Original 3DGS Pipeline </a:t>
            </a:r>
            <a:endParaRPr lang="en" altLang="zh-CN" sz="2000"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5F3DE5-0267-3B4A-B294-49D373C0D444}"/>
              </a:ext>
            </a:extLst>
          </p:cNvPr>
          <p:cNvSpPr txBox="1"/>
          <p:nvPr/>
        </p:nvSpPr>
        <p:spPr>
          <a:xfrm>
            <a:off x="6016562" y="4969901"/>
            <a:ext cx="5601901" cy="1134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400">
                <a:solidFill>
                  <a:srgbClr val="FF0000"/>
                </a:solidFill>
              </a:rPr>
              <a:t>Up to 69% pipeline bubbles observed on high-end GPUs</a:t>
            </a:r>
            <a:r>
              <a:rPr lang="zh-CN" altLang="en-US" sz="2400">
                <a:solidFill>
                  <a:srgbClr val="FF0000"/>
                </a:solidFill>
              </a:rPr>
              <a:t>！</a:t>
            </a:r>
            <a:endParaRPr lang="en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31157" y="3174380"/>
            <a:ext cx="11340296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/>
              <a:t>Proposed Solutions: HGR and DOP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124963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 sz="3600"/>
              <a:t>Solution I: Hierarchical Gaussian Reuse (HGR)</a:t>
            </a:r>
            <a:endParaRPr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8762A4-6368-DA44-8412-C7C64AA610E1}"/>
              </a:ext>
            </a:extLst>
          </p:cNvPr>
          <p:cNvSpPr txBox="1"/>
          <p:nvPr/>
        </p:nvSpPr>
        <p:spPr>
          <a:xfrm>
            <a:off x="383060" y="1668163"/>
            <a:ext cx="11200502" cy="2118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800" b="1"/>
              <a:t>Goal</a:t>
            </a:r>
            <a:r>
              <a:rPr lang="en" altLang="zh-CN" sz="1800"/>
              <a:t>: Eliminate redundant computations at pixel and tile levels.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Differential Power Computation (DPC)</a:t>
            </a:r>
            <a:r>
              <a:rPr lang="en" altLang="zh-CN" sz="1800"/>
              <a:t>: Exploits spatial coherence  to reduce multiplications by 96.2%.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Tile-Shared Power Precomputation (TSPP)</a:t>
            </a:r>
            <a:r>
              <a:rPr lang="en" altLang="zh-CN" sz="1800"/>
              <a:t>: Shifts alpha computation to preprocessing to balance stages.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Result</a:t>
            </a:r>
            <a:r>
              <a:rPr lang="en" altLang="zh-CN" sz="1800"/>
              <a:t>: Reduces 76.2% of pipeline bubbles.</a:t>
            </a:r>
          </a:p>
          <a:p>
            <a:pPr>
              <a:lnSpc>
                <a:spcPct val="150000"/>
              </a:lnSpc>
            </a:pPr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296992-389E-6A45-80FF-3246249F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5" y="3459926"/>
            <a:ext cx="4552092" cy="30735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CE92087-22F0-5249-8A20-0CF3F69C1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891" y="5189837"/>
            <a:ext cx="4955125" cy="11248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C275B9-D6E1-6744-A8FF-6B1D9DEC9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891" y="3429000"/>
            <a:ext cx="4423547" cy="1597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5166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 sz="3600"/>
              <a:t>Solution II: Dynamic Orthogonal Partitioning (DOP)</a:t>
            </a:r>
            <a:endParaRPr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1B50ED-43A0-FB49-B3E2-75FA27FF185B}"/>
              </a:ext>
            </a:extLst>
          </p:cNvPr>
          <p:cNvSpPr txBox="1"/>
          <p:nvPr/>
        </p:nvSpPr>
        <p:spPr>
          <a:xfrm>
            <a:off x="720811" y="1643449"/>
            <a:ext cx="10750378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800" b="1"/>
              <a:t>Concept</a:t>
            </a:r>
            <a:r>
              <a:rPr lang="en" altLang="zh-CN" sz="1800"/>
              <a:t>: Decomposes global preprocessing into independent layers based on camera view.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Mechanism</a:t>
            </a:r>
            <a:r>
              <a:rPr lang="en" altLang="zh-CN" sz="1800"/>
              <a:t>: Enables inter-layer pipeline scheduling, hiding 63% of preprocessing latency.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CLDR Regularization</a:t>
            </a:r>
            <a:r>
              <a:rPr lang="en" altLang="zh-CN" sz="1800"/>
              <a:t>: Ensures depth ordering and prevents cross-layer spillover during training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0E92DF-C292-3342-ABE8-A9086624B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30587"/>
            <a:ext cx="4085968" cy="21839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A650797-8F56-BD4C-A1C6-DD78F6F5A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91" y="3030587"/>
            <a:ext cx="4991100" cy="3416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495CD9A-6BEC-7E45-B243-3BD247DC7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820" y="5398023"/>
            <a:ext cx="4271148" cy="104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3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5166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 sz="3600"/>
              <a:t>PipeGS: Layer-wise Pipelined Architecture</a:t>
            </a:r>
            <a:endParaRPr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E72D8A-E631-4343-A437-6099A44666F1}"/>
              </a:ext>
            </a:extLst>
          </p:cNvPr>
          <p:cNvSpPr txBox="1"/>
          <p:nvPr/>
        </p:nvSpPr>
        <p:spPr>
          <a:xfrm>
            <a:off x="1790700" y="1356779"/>
            <a:ext cx="1005839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800" b="1"/>
              <a:t>Four Dedicated Units</a:t>
            </a:r>
            <a:r>
              <a:rPr lang="en" altLang="zh-CN" sz="1800"/>
              <a:t>: DOPU, PU, SU, and RU for concurrent execution.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Concurrency</a:t>
            </a:r>
            <a:r>
              <a:rPr lang="en" altLang="zh-CN" sz="1800"/>
              <a:t>: While layer i is being sorted/rasterized, layer i+1 is being preprocessed.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Buffer Design</a:t>
            </a:r>
            <a:r>
              <a:rPr lang="en" altLang="zh-CN" sz="1800"/>
              <a:t>: Double buffers for Gaussian parameters to maximize hardware utilization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40F264-EC5E-DB48-89B1-60B779CC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337" y="2773913"/>
            <a:ext cx="8087325" cy="34355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B35CE6B-C575-0044-9590-226AEC1C6AEE}"/>
              </a:ext>
            </a:extLst>
          </p:cNvPr>
          <p:cNvSpPr txBox="1"/>
          <p:nvPr/>
        </p:nvSpPr>
        <p:spPr>
          <a:xfrm>
            <a:off x="4327952" y="6209472"/>
            <a:ext cx="3536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b="1">
                <a:effectLst/>
                <a:latin typeface="LinLibertineTB"/>
              </a:rPr>
              <a:t>Overview of PipeGS architecture. </a:t>
            </a:r>
            <a:endParaRPr lang="en" altLang="zh-CN" sz="1800" b="1"/>
          </a:p>
        </p:txBody>
      </p:sp>
    </p:spTree>
    <p:extLst>
      <p:ext uri="{BB962C8B-B14F-4D97-AF65-F5344CB8AC3E}">
        <p14:creationId xmlns:p14="http://schemas.microsoft.com/office/powerpoint/2010/main" val="277392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31157" y="3174380"/>
            <a:ext cx="11340296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/>
              <a:t>Evaluation and Key Takeaways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21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5166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altLang="zh-CN" sz="3600"/>
              <a:t>Experimental Results and Efficiency</a:t>
            </a:r>
            <a:endParaRPr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14F03B-ADB0-EF49-BBB7-8DEBA40CA774}"/>
              </a:ext>
            </a:extLst>
          </p:cNvPr>
          <p:cNvSpPr txBox="1"/>
          <p:nvPr/>
        </p:nvSpPr>
        <p:spPr>
          <a:xfrm>
            <a:off x="1790700" y="1210961"/>
            <a:ext cx="962694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800" b="1"/>
              <a:t>Throughput</a:t>
            </a:r>
            <a:r>
              <a:rPr lang="en" altLang="zh-CN" sz="1800"/>
              <a:t>: Achieves up to 2.85x end-to-end speedup over baseline.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Area Efficiency</a:t>
            </a:r>
            <a:r>
              <a:rPr lang="en" altLang="zh-CN" sz="1800"/>
              <a:t>: 1.96–3.34x improvement compared to SOTA 3DGS accelerators.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Energy Efficiency</a:t>
            </a:r>
            <a:r>
              <a:rPr lang="en" altLang="zh-CN" sz="1800"/>
              <a:t>: 1.20–2.77x higher than existing designs.</a:t>
            </a:r>
          </a:p>
          <a:p>
            <a:pPr>
              <a:lnSpc>
                <a:spcPct val="150000"/>
              </a:lnSpc>
            </a:pPr>
            <a:r>
              <a:rPr lang="en" altLang="zh-CN" sz="1800" b="1"/>
              <a:t>Quality</a:t>
            </a:r>
            <a:r>
              <a:rPr lang="en" altLang="zh-CN" sz="1800"/>
              <a:t>: Maintains high fidelity with PSNR degradation within 1%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0CDE7E-0762-2844-B42C-46A6C74E6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75" y="5121307"/>
            <a:ext cx="9764241" cy="15184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BE71D5-EF95-044B-A49E-4178C3E5E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275" y="3011044"/>
            <a:ext cx="4858752" cy="21102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4A3CE9-B9E5-4146-BCD7-DD3AAED33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267" y="3011045"/>
            <a:ext cx="4719249" cy="212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5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728019" y="1641377"/>
            <a:ext cx="11130348" cy="209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altLang="zh-CN" sz="3600"/>
              <a:t>Conclusion: PipeGS unlocks full pipeline parallelism for 3DGS on edge platforms through algorithm-hardware co-design.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28531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8404643B-E575-A9A7-3B1A-EAE4A5523918}"/>
              </a:ext>
            </a:extLst>
          </p:cNvPr>
          <p:cNvSpPr/>
          <p:nvPr/>
        </p:nvSpPr>
        <p:spPr>
          <a:xfrm>
            <a:off x="987831" y="2028825"/>
            <a:ext cx="4803369" cy="4023207"/>
          </a:xfrm>
          <a:prstGeom prst="hexagon">
            <a:avLst>
              <a:gd name="adj" fmla="val 24356"/>
              <a:gd name="vf" fmla="val 11547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127;p6">
            <a:extLst>
              <a:ext uri="{FF2B5EF4-FFF2-40B4-BE49-F238E27FC236}">
                <a16:creationId xmlns:a16="http://schemas.microsoft.com/office/drawing/2014/main" id="{FCDBE7D7-5A3E-9743-8850-B0438A4A75BA}"/>
              </a:ext>
            </a:extLst>
          </p:cNvPr>
          <p:cNvSpPr txBox="1">
            <a:spLocks/>
          </p:cNvSpPr>
          <p:nvPr/>
        </p:nvSpPr>
        <p:spPr>
          <a:xfrm>
            <a:off x="6400802" y="2995612"/>
            <a:ext cx="437680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BD7E7"/>
      </a:accent1>
      <a:accent2>
        <a:srgbClr val="E97132"/>
      </a:accent2>
      <a:accent3>
        <a:srgbClr val="C1D830"/>
      </a:accent3>
      <a:accent4>
        <a:srgbClr val="492354"/>
      </a:accent4>
      <a:accent5>
        <a:srgbClr val="1A2051"/>
      </a:accent5>
      <a:accent6>
        <a:srgbClr val="4EA72E"/>
      </a:accent6>
      <a:hlink>
        <a:srgbClr val="F37837"/>
      </a:hlink>
      <a:folHlink>
        <a:srgbClr val="A93A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342</Words>
  <Application>Microsoft Macintosh PowerPoint</Application>
  <PresentationFormat>宽屏</PresentationFormat>
  <Paragraphs>35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-webkit-standard</vt:lpstr>
      <vt:lpstr>LinLibertineTB</vt:lpstr>
      <vt:lpstr>Arial</vt:lpstr>
      <vt:lpstr>Office Theme</vt:lpstr>
      <vt:lpstr>PipeGS: Unlocking 3DGS Pipeline Parallelism via Hierarchical Reuse and Dynamic Partitioning</vt:lpstr>
      <vt:lpstr>Motivation: The Pipeline Efficiency Gap in 3DGS</vt:lpstr>
      <vt:lpstr>Analysis of 3DGS Pipeline Bottlenecks</vt:lpstr>
      <vt:lpstr>Proposed Solutions: HGR and DOP </vt:lpstr>
      <vt:lpstr>Solution I: Hierarchical Gaussian Reuse (HGR)</vt:lpstr>
      <vt:lpstr>Solution II: Dynamic Orthogonal Partitioning (DOP)</vt:lpstr>
      <vt:lpstr>PipeGS: Layer-wise Pipelined Architecture</vt:lpstr>
      <vt:lpstr>Evaluation and Key Takeaways</vt:lpstr>
      <vt:lpstr>Experimental Results and Efficiency</vt:lpstr>
      <vt:lpstr>Conclusion: PipeGS unlocks full pipeline parallelism for 3DGS on edge platforms through algorithm-hardware co-design.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Title Here</dc:title>
  <dc:creator>Ben Rossell</dc:creator>
  <cp:lastModifiedBy>xiaomengmeia1@163.com</cp:lastModifiedBy>
  <cp:revision>39</cp:revision>
  <dcterms:created xsi:type="dcterms:W3CDTF">2024-09-11T13:48:27Z</dcterms:created>
  <dcterms:modified xsi:type="dcterms:W3CDTF">2026-05-09T01:18:05Z</dcterms:modified>
</cp:coreProperties>
</file>